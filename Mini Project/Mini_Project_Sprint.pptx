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713" autoAdjust="0"/>
    <p:restoredTop sz="93447" autoAdjust="0"/>
  </p:normalViewPr>
  <p:slideViewPr>
    <p:cSldViewPr snapToGrid="0">
      <p:cViewPr varScale="1">
        <p:scale>
          <a:sx n="96" d="100"/>
          <a:sy n="96" d="100"/>
        </p:scale>
        <p:origin x="510" y="84"/>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01-06-2026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Set expectations: this is not a long lecture. It is the architecture briefing before a build sprint. The visible deck should take roughly 40 minutes, then shift to the project.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Keep this agenda brisk. The class should understand that the final deliverable is a runnable travel planner, not a generic tour of agent frameworks.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Anchor the whole session in one concrete request. The request is intentionally realistic: multiple constraints, not a toy prompt.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slide to make the case for multi-agent decomposition. The point is not that one prompt never works; it is that decomposition makes failure easier to locate and repair.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Industry sources: Expedia product page for Expedia in ChatGPT; Booking.com press release and OpenAI case study on AI Trip Planner. Do not overclaim metrics; use this as a design analogue.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Make clear that 'manager' does not mean a smarter model; it means a different responsibility. Good boundaries matter more than dramatic agent names.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the table to introduce the idea of role boundaries. This prevents prompt overlap and creates cleaner debugging.</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an important decision. The sprint is about prompt engineering and autonomous reasoning, so live API integration should not dominate the class.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Connect back to Prompt Essentials. The key idea is not JSON syntax; it is predictable interfaces between LLM-powered components.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not re-teach ReAct deeply here. Show how it appears inside one worker in the project.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Emphasize that Reflexion is not a magic correctness guarantee. It is a structured opportunity to catch obvious problems before final output.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core slide to return to during the build. Every file and function in the code package should map to one part of this diagram.</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a preview, not a code package. It tells the class where they are heading before the notebook or files open.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before running the practical so the class knows what good looks like. This also gives the trainer a quality checklist.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very practical. It prevents the common mistake of trying to fix the final answer without inspecting intermediate states.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the theory segment here. The practical should begin immediately after this slide.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URLs: https://www.expedia.com/product/expedia-in-chatgpt/ ; https://news.booking.com/bookingcom-launches-new-ai-trip-planner-to-enhance-travel-planning-experience/ ; https://openai.com/index/booking-com/ ; ReAct and Reflexion papers.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Final administrative slide. Keep this brief and close the deck.</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523842" y="904536"/>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2148840"/>
            <a:ext cx="12188952" cy="1600200"/>
          </a:xfrm>
          <a:prstGeom prst="rect">
            <a:avLst/>
          </a:prstGeom>
          <a:solidFill>
            <a:srgbClr val="161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2423160"/>
            <a:ext cx="10469880" cy="566928"/>
          </a:xfrm>
          <a:prstGeom prst="rect">
            <a:avLst/>
          </a:prstGeom>
          <a:noFill/>
        </p:spPr>
        <p:txBody>
          <a:bodyPr wrap="square" tIns="54864" bIns="54864">
            <a:noAutofit/>
          </a:bodyPr>
          <a:lstStyle/>
          <a:p>
            <a:pPr algn="ctr">
              <a:lnSpc>
                <a:spcPct val="100000"/>
              </a:lnSpc>
            </a:pPr>
            <a:r>
              <a:rPr sz="4000" b="1">
                <a:solidFill>
                  <a:srgbClr val="FFFFFF"/>
                </a:solidFill>
                <a:latin typeface="Calibri"/>
              </a:rPr>
              <a:t>Mini-Project Sprint</a:t>
            </a:r>
          </a:p>
        </p:txBody>
      </p:sp>
      <p:sp>
        <p:nvSpPr>
          <p:cNvPr id="4" name="TextBox 3"/>
          <p:cNvSpPr txBox="1"/>
          <p:nvPr/>
        </p:nvSpPr>
        <p:spPr>
          <a:xfrm>
            <a:off x="1097280" y="3063240"/>
            <a:ext cx="9966960" cy="365760"/>
          </a:xfrm>
          <a:prstGeom prst="rect">
            <a:avLst/>
          </a:prstGeom>
          <a:noFill/>
        </p:spPr>
        <p:txBody>
          <a:bodyPr wrap="square" tIns="54864" bIns="54864">
            <a:noAutofit/>
          </a:bodyPr>
          <a:lstStyle/>
          <a:p>
            <a:pPr algn="ctr">
              <a:lnSpc>
                <a:spcPct val="100000"/>
              </a:lnSpc>
            </a:pPr>
            <a:r>
              <a:rPr sz="2000" b="0">
                <a:solidFill>
                  <a:srgbClr val="FFFFFF"/>
                </a:solidFill>
                <a:latin typeface="Calibri"/>
              </a:rPr>
              <a:t>Theory framing for a multi-agent travel planner</a:t>
            </a:r>
          </a:p>
        </p:txBody>
      </p:sp>
      <p:sp>
        <p:nvSpPr>
          <p:cNvPr id="5" name="TextBox 4"/>
          <p:cNvSpPr txBox="1"/>
          <p:nvPr/>
        </p:nvSpPr>
        <p:spPr>
          <a:xfrm>
            <a:off x="1097280" y="4069080"/>
            <a:ext cx="9966960" cy="347472"/>
          </a:xfrm>
          <a:prstGeom prst="rect">
            <a:avLst/>
          </a:prstGeom>
          <a:noFill/>
        </p:spPr>
        <p:txBody>
          <a:bodyPr wrap="square" tIns="54864" bIns="54864">
            <a:noAutofit/>
          </a:bodyPr>
          <a:lstStyle/>
          <a:p>
            <a:pPr algn="ctr">
              <a:lnSpc>
                <a:spcPct val="100000"/>
              </a:lnSpc>
            </a:pPr>
            <a:r>
              <a:rPr sz="1600" b="0">
                <a:solidFill>
                  <a:srgbClr val="44546A"/>
                </a:solidFill>
                <a:latin typeface="Calibri"/>
              </a:rPr>
              <a:t>Prompt Engineering &amp; Autonomous Reasoning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76656" y="603504"/>
            <a:ext cx="10835640" cy="612648"/>
          </a:xfrm>
          <a:prstGeom prst="rect">
            <a:avLst/>
          </a:prstGeom>
          <a:noFill/>
        </p:spPr>
        <p:txBody>
          <a:bodyPr wrap="square" tIns="54864" bIns="54864">
            <a:noAutofit/>
          </a:bodyPr>
          <a:lstStyle/>
          <a:p>
            <a:pPr algn="l">
              <a:lnSpc>
                <a:spcPct val="100000"/>
              </a:lnSpc>
            </a:pPr>
            <a:r>
              <a:rPr sz="3100" b="1">
                <a:solidFill>
                  <a:srgbClr val="161A3E"/>
                </a:solidFill>
                <a:latin typeface="Calibri"/>
              </a:rPr>
              <a:t>Agenda</a:t>
            </a: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68680" y="1719072"/>
            <a:ext cx="548640" cy="384048"/>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300" b="1">
                <a:solidFill>
                  <a:srgbClr val="FFFFFF"/>
                </a:solidFill>
                <a:latin typeface="Calibri"/>
              </a:rPr>
              <a:t>01</a:t>
            </a:r>
          </a:p>
        </p:txBody>
      </p:sp>
      <p:sp>
        <p:nvSpPr>
          <p:cNvPr id="5" name="TextBox 4"/>
          <p:cNvSpPr txBox="1"/>
          <p:nvPr/>
        </p:nvSpPr>
        <p:spPr>
          <a:xfrm>
            <a:off x="1572768" y="1709928"/>
            <a:ext cx="3063240" cy="256032"/>
          </a:xfrm>
          <a:prstGeom prst="rect">
            <a:avLst/>
          </a:prstGeom>
          <a:noFill/>
        </p:spPr>
        <p:txBody>
          <a:bodyPr wrap="square" tIns="54864" bIns="54864">
            <a:noAutofit/>
          </a:bodyPr>
          <a:lstStyle/>
          <a:p>
            <a:pPr algn="l">
              <a:lnSpc>
                <a:spcPct val="100000"/>
              </a:lnSpc>
            </a:pPr>
            <a:r>
              <a:rPr sz="1500" b="1">
                <a:solidFill>
                  <a:srgbClr val="161A3E"/>
                </a:solidFill>
                <a:latin typeface="Calibri"/>
              </a:rPr>
              <a:t>Start with the planning problem</a:t>
            </a:r>
          </a:p>
        </p:txBody>
      </p:sp>
      <p:sp>
        <p:nvSpPr>
          <p:cNvPr id="6" name="TextBox 5"/>
          <p:cNvSpPr txBox="1"/>
          <p:nvPr/>
        </p:nvSpPr>
        <p:spPr>
          <a:xfrm>
            <a:off x="4709160" y="1700784"/>
            <a:ext cx="6263640" cy="320040"/>
          </a:xfrm>
          <a:prstGeom prst="rect">
            <a:avLst/>
          </a:prstGeom>
          <a:noFill/>
        </p:spPr>
        <p:txBody>
          <a:bodyPr wrap="square" tIns="54864" bIns="54864">
            <a:noAutofit/>
          </a:bodyPr>
          <a:lstStyle/>
          <a:p>
            <a:pPr algn="l">
              <a:lnSpc>
                <a:spcPct val="100000"/>
              </a:lnSpc>
            </a:pPr>
            <a:r>
              <a:rPr sz="1350" b="0">
                <a:solidFill>
                  <a:srgbClr val="44546A"/>
                </a:solidFill>
                <a:latin typeface="Calibri"/>
              </a:rPr>
              <a:t>Why one giant prompt is fragile for a real trip request.</a:t>
            </a:r>
          </a:p>
        </p:txBody>
      </p:sp>
      <p:sp>
        <p:nvSpPr>
          <p:cNvPr id="7" name="Rounded Rectangle 6"/>
          <p:cNvSpPr/>
          <p:nvPr/>
        </p:nvSpPr>
        <p:spPr>
          <a:xfrm>
            <a:off x="868680" y="2468879"/>
            <a:ext cx="548640" cy="384048"/>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300" b="1">
                <a:solidFill>
                  <a:srgbClr val="FFFFFF"/>
                </a:solidFill>
                <a:latin typeface="Calibri"/>
              </a:rPr>
              <a:t>02</a:t>
            </a:r>
          </a:p>
        </p:txBody>
      </p:sp>
      <p:sp>
        <p:nvSpPr>
          <p:cNvPr id="8" name="TextBox 7"/>
          <p:cNvSpPr txBox="1"/>
          <p:nvPr/>
        </p:nvSpPr>
        <p:spPr>
          <a:xfrm>
            <a:off x="1572768" y="2459736"/>
            <a:ext cx="3063240" cy="256032"/>
          </a:xfrm>
          <a:prstGeom prst="rect">
            <a:avLst/>
          </a:prstGeom>
          <a:noFill/>
        </p:spPr>
        <p:txBody>
          <a:bodyPr wrap="square" tIns="54864" bIns="54864">
            <a:noAutofit/>
          </a:bodyPr>
          <a:lstStyle/>
          <a:p>
            <a:pPr algn="l">
              <a:lnSpc>
                <a:spcPct val="100000"/>
              </a:lnSpc>
            </a:pPr>
            <a:r>
              <a:rPr sz="1500" b="1">
                <a:solidFill>
                  <a:srgbClr val="161A3E"/>
                </a:solidFill>
                <a:latin typeface="Calibri"/>
              </a:rPr>
              <a:t>Map the agent team</a:t>
            </a:r>
          </a:p>
        </p:txBody>
      </p:sp>
      <p:sp>
        <p:nvSpPr>
          <p:cNvPr id="9" name="TextBox 8"/>
          <p:cNvSpPr txBox="1"/>
          <p:nvPr/>
        </p:nvSpPr>
        <p:spPr>
          <a:xfrm>
            <a:off x="4709160" y="2450591"/>
            <a:ext cx="6263640" cy="320040"/>
          </a:xfrm>
          <a:prstGeom prst="rect">
            <a:avLst/>
          </a:prstGeom>
          <a:noFill/>
        </p:spPr>
        <p:txBody>
          <a:bodyPr wrap="square" tIns="54864" bIns="54864">
            <a:noAutofit/>
          </a:bodyPr>
          <a:lstStyle/>
          <a:p>
            <a:pPr algn="l">
              <a:lnSpc>
                <a:spcPct val="100000"/>
              </a:lnSpc>
            </a:pPr>
            <a:r>
              <a:rPr sz="1350" b="0">
                <a:solidFill>
                  <a:srgbClr val="44546A"/>
                </a:solidFill>
                <a:latin typeface="Calibri"/>
              </a:rPr>
              <a:t>Manager, workers, tools, critic, and the message contracts between them.</a:t>
            </a:r>
          </a:p>
        </p:txBody>
      </p:sp>
      <p:sp>
        <p:nvSpPr>
          <p:cNvPr id="10" name="Rounded Rectangle 9"/>
          <p:cNvSpPr/>
          <p:nvPr/>
        </p:nvSpPr>
        <p:spPr>
          <a:xfrm>
            <a:off x="868680" y="3218687"/>
            <a:ext cx="548640" cy="384048"/>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300" b="1">
                <a:solidFill>
                  <a:srgbClr val="FFFFFF"/>
                </a:solidFill>
                <a:latin typeface="Calibri"/>
              </a:rPr>
              <a:t>03</a:t>
            </a:r>
          </a:p>
        </p:txBody>
      </p:sp>
      <p:sp>
        <p:nvSpPr>
          <p:cNvPr id="11" name="TextBox 10"/>
          <p:cNvSpPr txBox="1"/>
          <p:nvPr/>
        </p:nvSpPr>
        <p:spPr>
          <a:xfrm>
            <a:off x="1572768" y="3209544"/>
            <a:ext cx="3063240" cy="256032"/>
          </a:xfrm>
          <a:prstGeom prst="rect">
            <a:avLst/>
          </a:prstGeom>
          <a:noFill/>
        </p:spPr>
        <p:txBody>
          <a:bodyPr wrap="square" tIns="54864" bIns="54864">
            <a:noAutofit/>
          </a:bodyPr>
          <a:lstStyle/>
          <a:p>
            <a:pPr algn="l">
              <a:lnSpc>
                <a:spcPct val="100000"/>
              </a:lnSpc>
            </a:pPr>
            <a:r>
              <a:rPr sz="1500" b="1">
                <a:solidFill>
                  <a:srgbClr val="161A3E"/>
                </a:solidFill>
                <a:latin typeface="Calibri"/>
              </a:rPr>
              <a:t>Connect earlier techniques</a:t>
            </a:r>
          </a:p>
        </p:txBody>
      </p:sp>
      <p:sp>
        <p:nvSpPr>
          <p:cNvPr id="12" name="TextBox 11"/>
          <p:cNvSpPr txBox="1"/>
          <p:nvPr/>
        </p:nvSpPr>
        <p:spPr>
          <a:xfrm>
            <a:off x="4709160" y="3200399"/>
            <a:ext cx="6263640" cy="320040"/>
          </a:xfrm>
          <a:prstGeom prst="rect">
            <a:avLst/>
          </a:prstGeom>
          <a:noFill/>
        </p:spPr>
        <p:txBody>
          <a:bodyPr wrap="square" tIns="54864" bIns="54864">
            <a:noAutofit/>
          </a:bodyPr>
          <a:lstStyle/>
          <a:p>
            <a:pPr algn="l">
              <a:lnSpc>
                <a:spcPct val="100000"/>
              </a:lnSpc>
            </a:pPr>
            <a:r>
              <a:rPr sz="1350" b="0">
                <a:solidFill>
                  <a:srgbClr val="44546A"/>
                </a:solidFill>
                <a:latin typeface="Calibri"/>
              </a:rPr>
              <a:t>Use ReAct for tool use and Reflexion for quality improvement.</a:t>
            </a:r>
          </a:p>
        </p:txBody>
      </p:sp>
      <p:sp>
        <p:nvSpPr>
          <p:cNvPr id="13" name="Rounded Rectangle 12"/>
          <p:cNvSpPr/>
          <p:nvPr/>
        </p:nvSpPr>
        <p:spPr>
          <a:xfrm>
            <a:off x="868680" y="3968496"/>
            <a:ext cx="548640" cy="384048"/>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300" b="1">
                <a:solidFill>
                  <a:srgbClr val="FFFFFF"/>
                </a:solidFill>
                <a:latin typeface="Calibri"/>
              </a:rPr>
              <a:t>04</a:t>
            </a:r>
          </a:p>
        </p:txBody>
      </p:sp>
      <p:sp>
        <p:nvSpPr>
          <p:cNvPr id="14" name="TextBox 13"/>
          <p:cNvSpPr txBox="1"/>
          <p:nvPr/>
        </p:nvSpPr>
        <p:spPr>
          <a:xfrm>
            <a:off x="1572768" y="3959352"/>
            <a:ext cx="3063240" cy="256032"/>
          </a:xfrm>
          <a:prstGeom prst="rect">
            <a:avLst/>
          </a:prstGeom>
          <a:noFill/>
        </p:spPr>
        <p:txBody>
          <a:bodyPr wrap="square" tIns="54864" bIns="54864">
            <a:noAutofit/>
          </a:bodyPr>
          <a:lstStyle/>
          <a:p>
            <a:pPr algn="l">
              <a:lnSpc>
                <a:spcPct val="100000"/>
              </a:lnSpc>
            </a:pPr>
            <a:r>
              <a:rPr sz="1500" b="1">
                <a:solidFill>
                  <a:srgbClr val="161A3E"/>
                </a:solidFill>
                <a:latin typeface="Calibri"/>
              </a:rPr>
              <a:t>Walk the end-to-end architecture</a:t>
            </a:r>
          </a:p>
        </p:txBody>
      </p:sp>
      <p:sp>
        <p:nvSpPr>
          <p:cNvPr id="15" name="TextBox 14"/>
          <p:cNvSpPr txBox="1"/>
          <p:nvPr/>
        </p:nvSpPr>
        <p:spPr>
          <a:xfrm>
            <a:off x="4709160" y="3950208"/>
            <a:ext cx="6263640" cy="320040"/>
          </a:xfrm>
          <a:prstGeom prst="rect">
            <a:avLst/>
          </a:prstGeom>
          <a:noFill/>
        </p:spPr>
        <p:txBody>
          <a:bodyPr wrap="square" tIns="54864" bIns="54864">
            <a:noAutofit/>
          </a:bodyPr>
          <a:lstStyle/>
          <a:p>
            <a:pPr algn="l">
              <a:lnSpc>
                <a:spcPct val="100000"/>
              </a:lnSpc>
            </a:pPr>
            <a:r>
              <a:rPr sz="1350" b="0">
                <a:solidFill>
                  <a:srgbClr val="44546A"/>
                </a:solidFill>
                <a:latin typeface="Calibri"/>
              </a:rPr>
              <a:t>From user request to final itinerary with traceable intermediate outputs.</a:t>
            </a:r>
          </a:p>
        </p:txBody>
      </p:sp>
      <p:sp>
        <p:nvSpPr>
          <p:cNvPr id="16" name="Rounded Rectangle 15"/>
          <p:cNvSpPr/>
          <p:nvPr/>
        </p:nvSpPr>
        <p:spPr>
          <a:xfrm>
            <a:off x="868680" y="4718304"/>
            <a:ext cx="548640" cy="384048"/>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300" b="1">
                <a:solidFill>
                  <a:srgbClr val="FFFFFF"/>
                </a:solidFill>
                <a:latin typeface="Calibri"/>
              </a:rPr>
              <a:t>05</a:t>
            </a:r>
          </a:p>
        </p:txBody>
      </p:sp>
      <p:sp>
        <p:nvSpPr>
          <p:cNvPr id="17" name="TextBox 16"/>
          <p:cNvSpPr txBox="1"/>
          <p:nvPr/>
        </p:nvSpPr>
        <p:spPr>
          <a:xfrm>
            <a:off x="1572768" y="4709160"/>
            <a:ext cx="3063240" cy="256032"/>
          </a:xfrm>
          <a:prstGeom prst="rect">
            <a:avLst/>
          </a:prstGeom>
          <a:noFill/>
        </p:spPr>
        <p:txBody>
          <a:bodyPr wrap="square" tIns="54864" bIns="54864">
            <a:noAutofit/>
          </a:bodyPr>
          <a:lstStyle/>
          <a:p>
            <a:pPr algn="l">
              <a:lnSpc>
                <a:spcPct val="100000"/>
              </a:lnSpc>
            </a:pPr>
            <a:r>
              <a:rPr sz="1500" b="1">
                <a:solidFill>
                  <a:srgbClr val="161A3E"/>
                </a:solidFill>
                <a:latin typeface="Calibri"/>
              </a:rPr>
              <a:t>Hand off to the sprint</a:t>
            </a:r>
          </a:p>
        </p:txBody>
      </p:sp>
      <p:sp>
        <p:nvSpPr>
          <p:cNvPr id="18" name="TextBox 17"/>
          <p:cNvSpPr txBox="1"/>
          <p:nvPr/>
        </p:nvSpPr>
        <p:spPr>
          <a:xfrm>
            <a:off x="4709160" y="4700016"/>
            <a:ext cx="6263640" cy="320040"/>
          </a:xfrm>
          <a:prstGeom prst="rect">
            <a:avLst/>
          </a:prstGeom>
          <a:noFill/>
        </p:spPr>
        <p:txBody>
          <a:bodyPr wrap="square" tIns="54864" bIns="54864">
            <a:noAutofit/>
          </a:bodyPr>
          <a:lstStyle/>
          <a:p>
            <a:pPr algn="l">
              <a:lnSpc>
                <a:spcPct val="100000"/>
              </a:lnSpc>
            </a:pPr>
            <a:r>
              <a:rPr sz="1350" b="0">
                <a:solidFill>
                  <a:srgbClr val="44546A"/>
                </a:solidFill>
                <a:latin typeface="Calibri"/>
              </a:rPr>
              <a:t>Know what will be built, what to inspect, and how to debug it.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76656" y="603504"/>
            <a:ext cx="10835640" cy="612648"/>
          </a:xfrm>
          <a:prstGeom prst="rect">
            <a:avLst/>
          </a:prstGeom>
          <a:noFill/>
        </p:spPr>
        <p:txBody>
          <a:bodyPr wrap="square" tIns="54864" bIns="54864">
            <a:noAutofit/>
          </a:bodyPr>
          <a:lstStyle/>
          <a:p>
            <a:pPr algn="l">
              <a:lnSpc>
                <a:spcPct val="100000"/>
              </a:lnSpc>
            </a:pPr>
            <a:r>
              <a:rPr sz="3100" b="1" dirty="0">
                <a:solidFill>
                  <a:srgbClr val="161A3E"/>
                </a:solidFill>
                <a:latin typeface="Calibri"/>
              </a:rPr>
              <a:t>The sprint promise: </a:t>
            </a:r>
            <a:r>
              <a:rPr sz="2800" b="1" dirty="0">
                <a:solidFill>
                  <a:srgbClr val="161A3E"/>
                </a:solidFill>
                <a:latin typeface="Calibri"/>
              </a:rPr>
              <a:t>one request, one agent team, one refined plan</a:t>
            </a: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67486" y="2313830"/>
            <a:ext cx="5074920" cy="1874519"/>
          </a:xfrm>
          <a:prstGeom prst="roundRect">
            <a:avLst/>
          </a:prstGeom>
          <a:solidFill>
            <a:srgbClr val="D6E4F0"/>
          </a:solidFill>
          <a:ln w="1524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32078" y="2450989"/>
            <a:ext cx="4709160" cy="1554480"/>
          </a:xfrm>
          <a:prstGeom prst="rect">
            <a:avLst/>
          </a:prstGeom>
          <a:noFill/>
        </p:spPr>
        <p:txBody>
          <a:bodyPr wrap="square" tIns="54864" bIns="54864">
            <a:noAutofit/>
          </a:bodyPr>
          <a:lstStyle/>
          <a:p>
            <a:pPr algn="l">
              <a:lnSpc>
                <a:spcPct val="100000"/>
              </a:lnSpc>
            </a:pPr>
            <a:r>
              <a:rPr sz="1800" b="0">
                <a:solidFill>
                  <a:srgbClr val="161A3E"/>
                </a:solidFill>
                <a:latin typeface="Calibri"/>
              </a:rPr>
              <a:t>“Plan a 4-day Singapore trip from Mumbai for two people.</a:t>
            </a:r>
          </a:p>
          <a:p>
            <a:pPr algn="l">
              <a:lnSpc>
                <a:spcPct val="100000"/>
              </a:lnSpc>
            </a:pPr>
            <a:r>
              <a:rPr sz="1800" b="0">
                <a:solidFill>
                  <a:srgbClr val="161A3E"/>
                </a:solidFill>
                <a:latin typeface="Calibri"/>
              </a:rPr>
              <a:t>Mid-budget. Avoid red-eye flights.</a:t>
            </a:r>
          </a:p>
          <a:p>
            <a:pPr algn="l">
              <a:lnSpc>
                <a:spcPct val="100000"/>
              </a:lnSpc>
            </a:pPr>
            <a:r>
              <a:rPr sz="1800" b="0">
                <a:solidFill>
                  <a:srgbClr val="161A3E"/>
                </a:solidFill>
                <a:latin typeface="Calibri"/>
              </a:rPr>
              <a:t>Prefer food, city views, and cultural sites.</a:t>
            </a:r>
          </a:p>
          <a:p>
            <a:pPr algn="l">
              <a:lnSpc>
                <a:spcPct val="100000"/>
              </a:lnSpc>
            </a:pPr>
            <a:r>
              <a:rPr sz="1800" b="0">
                <a:solidFill>
                  <a:srgbClr val="161A3E"/>
                </a:solidFill>
                <a:latin typeface="Calibri"/>
              </a:rPr>
              <a:t>Keep hotel budget under ₹45,000.”</a:t>
            </a:r>
          </a:p>
        </p:txBody>
      </p:sp>
      <p:sp>
        <p:nvSpPr>
          <p:cNvPr id="6" name="Rounded Rectangle 5"/>
          <p:cNvSpPr/>
          <p:nvPr/>
        </p:nvSpPr>
        <p:spPr>
          <a:xfrm>
            <a:off x="6271590" y="2313830"/>
            <a:ext cx="5029200" cy="1874519"/>
          </a:xfrm>
          <a:prstGeom prst="roundRect">
            <a:avLst/>
          </a:prstGeom>
          <a:solidFill>
            <a:srgbClr val="FFFFFF"/>
          </a:solidFill>
          <a:ln w="15240">
            <a:solidFill>
              <a:srgbClr val="161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271590" y="2313830"/>
            <a:ext cx="5029200" cy="502920"/>
          </a:xfrm>
          <a:prstGeom prst="roundRect">
            <a:avLst/>
          </a:prstGeom>
          <a:solidFill>
            <a:srgbClr val="161A3E"/>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400" b="1">
                <a:solidFill>
                  <a:srgbClr val="FFFFFF"/>
                </a:solidFill>
                <a:latin typeface="Calibri"/>
              </a:rPr>
              <a:t>By the end of the sprint</a:t>
            </a:r>
          </a:p>
        </p:txBody>
      </p:sp>
      <p:sp>
        <p:nvSpPr>
          <p:cNvPr id="8" name="TextBox 7"/>
          <p:cNvSpPr txBox="1"/>
          <p:nvPr/>
        </p:nvSpPr>
        <p:spPr>
          <a:xfrm>
            <a:off x="6317310" y="2862470"/>
            <a:ext cx="4937760" cy="1298447"/>
          </a:xfrm>
          <a:prstGeom prst="rect">
            <a:avLst/>
          </a:prstGeom>
          <a:noFill/>
        </p:spPr>
        <p:txBody>
          <a:bodyPr wrap="square" tIns="54864" bIns="54864">
            <a:noAutofit/>
          </a:bodyPr>
          <a:lstStyle/>
          <a:p>
            <a:pPr algn="l">
              <a:lnSpc>
                <a:spcPct val="100000"/>
              </a:lnSpc>
            </a:pPr>
            <a:r>
              <a:rPr sz="1600" b="0">
                <a:solidFill>
                  <a:srgbClr val="161A3E"/>
                </a:solidFill>
                <a:latin typeface="Calibri"/>
              </a:rPr>
              <a:t>A manager agent delegates to specialists, gathers results, produces a first itinerary, receives critique, and returns a refined travel plan.</a:t>
            </a:r>
          </a:p>
        </p:txBody>
      </p:sp>
      <p:sp>
        <p:nvSpPr>
          <p:cNvPr id="9" name="Rounded Rectangle 8"/>
          <p:cNvSpPr/>
          <p:nvPr/>
        </p:nvSpPr>
        <p:spPr>
          <a:xfrm>
            <a:off x="1569990" y="4736990"/>
            <a:ext cx="1325880" cy="347472"/>
          </a:xfrm>
          <a:prstGeom prst="roundRect">
            <a:avLst/>
          </a:prstGeom>
          <a:solidFill>
            <a:srgbClr val="D6E4F0"/>
          </a:solidFill>
          <a:ln w="15240">
            <a:solidFill>
              <a:srgbClr val="D6E4F0"/>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100" b="1">
                <a:solidFill>
                  <a:srgbClr val="161A3E"/>
                </a:solidFill>
                <a:latin typeface="Calibri"/>
              </a:rPr>
              <a:t>Useful</a:t>
            </a:r>
          </a:p>
        </p:txBody>
      </p:sp>
      <p:sp>
        <p:nvSpPr>
          <p:cNvPr id="10" name="TextBox 9"/>
          <p:cNvSpPr txBox="1"/>
          <p:nvPr/>
        </p:nvSpPr>
        <p:spPr>
          <a:xfrm>
            <a:off x="1402608" y="5221622"/>
            <a:ext cx="1627632" cy="731520"/>
          </a:xfrm>
          <a:prstGeom prst="rect">
            <a:avLst/>
          </a:prstGeom>
          <a:noFill/>
        </p:spPr>
        <p:txBody>
          <a:bodyPr wrap="square" tIns="54864" bIns="54864">
            <a:noAutofit/>
          </a:bodyPr>
          <a:lstStyle/>
          <a:p>
            <a:pPr algn="ctr">
              <a:lnSpc>
                <a:spcPct val="100000"/>
              </a:lnSpc>
            </a:pPr>
            <a:r>
              <a:rPr sz="1180" b="0" dirty="0">
                <a:solidFill>
                  <a:srgbClr val="44546A"/>
                </a:solidFill>
                <a:latin typeface="Calibri"/>
              </a:rPr>
              <a:t>answers the actual trip goal</a:t>
            </a:r>
          </a:p>
        </p:txBody>
      </p:sp>
      <p:sp>
        <p:nvSpPr>
          <p:cNvPr id="11" name="Rounded Rectangle 10"/>
          <p:cNvSpPr/>
          <p:nvPr/>
        </p:nvSpPr>
        <p:spPr>
          <a:xfrm>
            <a:off x="3468759" y="4736990"/>
            <a:ext cx="1325880" cy="347472"/>
          </a:xfrm>
          <a:prstGeom prst="roundRect">
            <a:avLst/>
          </a:prstGeom>
          <a:solidFill>
            <a:srgbClr val="D6E4F0"/>
          </a:solidFill>
          <a:ln w="15240">
            <a:solidFill>
              <a:srgbClr val="D6E4F0"/>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100" b="1">
                <a:solidFill>
                  <a:srgbClr val="161A3E"/>
                </a:solidFill>
                <a:latin typeface="Calibri"/>
              </a:rPr>
              <a:t>Grounded</a:t>
            </a:r>
          </a:p>
        </p:txBody>
      </p:sp>
      <p:sp>
        <p:nvSpPr>
          <p:cNvPr id="12" name="TextBox 11"/>
          <p:cNvSpPr txBox="1"/>
          <p:nvPr/>
        </p:nvSpPr>
        <p:spPr>
          <a:xfrm>
            <a:off x="3118899" y="5221622"/>
            <a:ext cx="1965960" cy="731520"/>
          </a:xfrm>
          <a:prstGeom prst="rect">
            <a:avLst/>
          </a:prstGeom>
          <a:noFill/>
        </p:spPr>
        <p:txBody>
          <a:bodyPr wrap="square" tIns="54864" bIns="54864">
            <a:noAutofit/>
          </a:bodyPr>
          <a:lstStyle/>
          <a:p>
            <a:pPr algn="ctr">
              <a:lnSpc>
                <a:spcPct val="100000"/>
              </a:lnSpc>
            </a:pPr>
            <a:r>
              <a:rPr sz="1180" b="0">
                <a:solidFill>
                  <a:srgbClr val="44546A"/>
                </a:solidFill>
                <a:latin typeface="Calibri"/>
              </a:rPr>
              <a:t>uses tool results, not pure imagination</a:t>
            </a:r>
          </a:p>
        </p:txBody>
      </p:sp>
      <p:sp>
        <p:nvSpPr>
          <p:cNvPr id="13" name="Rounded Rectangle 12"/>
          <p:cNvSpPr/>
          <p:nvPr/>
        </p:nvSpPr>
        <p:spPr>
          <a:xfrm>
            <a:off x="5367528" y="4736990"/>
            <a:ext cx="1325880" cy="347472"/>
          </a:xfrm>
          <a:prstGeom prst="roundRect">
            <a:avLst/>
          </a:prstGeom>
          <a:solidFill>
            <a:srgbClr val="D6E4F0"/>
          </a:solidFill>
          <a:ln w="15240">
            <a:solidFill>
              <a:srgbClr val="D6E4F0"/>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100" b="1" dirty="0">
                <a:solidFill>
                  <a:srgbClr val="161A3E"/>
                </a:solidFill>
                <a:latin typeface="Calibri"/>
              </a:rPr>
              <a:t>Inspectable</a:t>
            </a:r>
          </a:p>
        </p:txBody>
      </p:sp>
      <p:sp>
        <p:nvSpPr>
          <p:cNvPr id="14" name="TextBox 13"/>
          <p:cNvSpPr txBox="1"/>
          <p:nvPr/>
        </p:nvSpPr>
        <p:spPr>
          <a:xfrm>
            <a:off x="4953000" y="5183853"/>
            <a:ext cx="2286000" cy="731520"/>
          </a:xfrm>
          <a:prstGeom prst="rect">
            <a:avLst/>
          </a:prstGeom>
          <a:noFill/>
        </p:spPr>
        <p:txBody>
          <a:bodyPr wrap="square" tIns="54864" bIns="54864">
            <a:noAutofit/>
          </a:bodyPr>
          <a:lstStyle/>
          <a:p>
            <a:pPr algn="ctr">
              <a:lnSpc>
                <a:spcPct val="100000"/>
              </a:lnSpc>
            </a:pPr>
            <a:r>
              <a:rPr sz="1180" b="0" dirty="0">
                <a:solidFill>
                  <a:srgbClr val="44546A"/>
                </a:solidFill>
                <a:latin typeface="Calibri"/>
              </a:rPr>
              <a:t>shows what each worker contributed</a:t>
            </a:r>
          </a:p>
        </p:txBody>
      </p:sp>
      <p:sp>
        <p:nvSpPr>
          <p:cNvPr id="15" name="Rounded Rectangle 14"/>
          <p:cNvSpPr/>
          <p:nvPr/>
        </p:nvSpPr>
        <p:spPr>
          <a:xfrm>
            <a:off x="7239000" y="4736990"/>
            <a:ext cx="1325880" cy="347472"/>
          </a:xfrm>
          <a:prstGeom prst="roundRect">
            <a:avLst/>
          </a:prstGeom>
          <a:solidFill>
            <a:srgbClr val="D6E4F0"/>
          </a:solidFill>
          <a:ln w="15240">
            <a:solidFill>
              <a:srgbClr val="D6E4F0"/>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100" b="1">
                <a:solidFill>
                  <a:srgbClr val="161A3E"/>
                </a:solidFill>
                <a:latin typeface="Calibri"/>
              </a:rPr>
              <a:t>Refinable</a:t>
            </a:r>
          </a:p>
        </p:txBody>
      </p:sp>
      <p:sp>
        <p:nvSpPr>
          <p:cNvPr id="16" name="TextBox 15"/>
          <p:cNvSpPr txBox="1"/>
          <p:nvPr/>
        </p:nvSpPr>
        <p:spPr>
          <a:xfrm>
            <a:off x="6905244" y="5183853"/>
            <a:ext cx="1993392" cy="731520"/>
          </a:xfrm>
          <a:prstGeom prst="rect">
            <a:avLst/>
          </a:prstGeom>
          <a:noFill/>
        </p:spPr>
        <p:txBody>
          <a:bodyPr wrap="square" tIns="54864" bIns="54864">
            <a:noAutofit/>
          </a:bodyPr>
          <a:lstStyle/>
          <a:p>
            <a:pPr algn="ctr">
              <a:lnSpc>
                <a:spcPct val="100000"/>
              </a:lnSpc>
            </a:pPr>
            <a:r>
              <a:rPr sz="1180" b="0" dirty="0">
                <a:solidFill>
                  <a:srgbClr val="44546A"/>
                </a:solidFill>
                <a:latin typeface="Calibri"/>
              </a:rPr>
              <a:t>improves after critique</a:t>
            </a:r>
          </a:p>
        </p:txBody>
      </p:sp>
      <p:sp>
        <p:nvSpPr>
          <p:cNvPr id="17" name="Rounded Rectangle 16"/>
          <p:cNvSpPr/>
          <p:nvPr/>
        </p:nvSpPr>
        <p:spPr>
          <a:xfrm>
            <a:off x="9083967" y="4736990"/>
            <a:ext cx="1325880" cy="347472"/>
          </a:xfrm>
          <a:prstGeom prst="roundRect">
            <a:avLst/>
          </a:prstGeom>
          <a:solidFill>
            <a:srgbClr val="D6E4F0"/>
          </a:solidFill>
          <a:ln w="15240">
            <a:solidFill>
              <a:srgbClr val="D6E4F0"/>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100" b="1">
                <a:solidFill>
                  <a:srgbClr val="161A3E"/>
                </a:solidFill>
                <a:latin typeface="Calibri"/>
              </a:rPr>
              <a:t>Reusable</a:t>
            </a:r>
          </a:p>
        </p:txBody>
      </p:sp>
      <p:sp>
        <p:nvSpPr>
          <p:cNvPr id="18" name="TextBox 17"/>
          <p:cNvSpPr txBox="1"/>
          <p:nvPr/>
        </p:nvSpPr>
        <p:spPr>
          <a:xfrm>
            <a:off x="8813625" y="5221622"/>
            <a:ext cx="2176272" cy="731520"/>
          </a:xfrm>
          <a:prstGeom prst="rect">
            <a:avLst/>
          </a:prstGeom>
          <a:noFill/>
        </p:spPr>
        <p:txBody>
          <a:bodyPr wrap="square" tIns="54864" bIns="54864">
            <a:noAutofit/>
          </a:bodyPr>
          <a:lstStyle/>
          <a:p>
            <a:pPr algn="ctr">
              <a:lnSpc>
                <a:spcPct val="100000"/>
              </a:lnSpc>
            </a:pPr>
            <a:r>
              <a:rPr sz="1180" b="0" dirty="0">
                <a:solidFill>
                  <a:srgbClr val="44546A"/>
                </a:solidFill>
                <a:latin typeface="Calibri"/>
              </a:rPr>
              <a:t>can be refactored later into stronger frameworks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76656" y="603504"/>
            <a:ext cx="10835640" cy="612648"/>
          </a:xfrm>
          <a:prstGeom prst="rect">
            <a:avLst/>
          </a:prstGeom>
          <a:noFill/>
        </p:spPr>
        <p:txBody>
          <a:bodyPr wrap="square" tIns="54864" bIns="54864">
            <a:noAutofit/>
          </a:bodyPr>
          <a:lstStyle/>
          <a:p>
            <a:pPr algn="l">
              <a:lnSpc>
                <a:spcPct val="100000"/>
              </a:lnSpc>
            </a:pPr>
            <a:r>
              <a:rPr sz="3100" b="1">
                <a:solidFill>
                  <a:srgbClr val="161A3E"/>
                </a:solidFill>
                <a:latin typeface="Calibri"/>
              </a:rPr>
              <a:t>Why one giant prompt is not enough</a:t>
            </a: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555480" y="1143000"/>
            <a:ext cx="1947672" cy="292608"/>
          </a:xfrm>
          <a:prstGeom prst="round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000" b="1">
                <a:solidFill>
                  <a:srgbClr val="44546A"/>
                </a:solidFill>
                <a:latin typeface="Calibri"/>
              </a:rPr>
              <a:t>Problem framing</a:t>
            </a:r>
          </a:p>
        </p:txBody>
      </p:sp>
      <p:sp>
        <p:nvSpPr>
          <p:cNvPr id="5" name="Rounded Rectangle 4"/>
          <p:cNvSpPr/>
          <p:nvPr/>
        </p:nvSpPr>
        <p:spPr>
          <a:xfrm>
            <a:off x="676656" y="2155202"/>
            <a:ext cx="3401568" cy="2480806"/>
          </a:xfrm>
          <a:prstGeom prst="roundRect">
            <a:avLst/>
          </a:prstGeom>
          <a:solidFill>
            <a:srgbClr val="FFFFFF"/>
          </a:solidFill>
          <a:ln w="15240">
            <a:solidFill>
              <a:srgbClr val="161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76656" y="2133523"/>
            <a:ext cx="3401568" cy="433157"/>
          </a:xfrm>
          <a:prstGeom prst="roundRect">
            <a:avLst/>
          </a:prstGeom>
          <a:solidFill>
            <a:srgbClr val="161A3E"/>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400" b="1">
                <a:solidFill>
                  <a:srgbClr val="FFFFFF"/>
                </a:solidFill>
                <a:latin typeface="Calibri"/>
              </a:rPr>
              <a:t>Hidden assumptions</a:t>
            </a:r>
          </a:p>
        </p:txBody>
      </p:sp>
      <p:sp>
        <p:nvSpPr>
          <p:cNvPr id="7" name="TextBox 6"/>
          <p:cNvSpPr txBox="1"/>
          <p:nvPr/>
        </p:nvSpPr>
        <p:spPr>
          <a:xfrm>
            <a:off x="722376" y="2623930"/>
            <a:ext cx="3310128" cy="1984644"/>
          </a:xfrm>
          <a:prstGeom prst="rect">
            <a:avLst/>
          </a:prstGeom>
          <a:noFill/>
        </p:spPr>
        <p:txBody>
          <a:bodyPr wrap="square" tIns="54864" bIns="54864">
            <a:noAutofit/>
          </a:bodyPr>
          <a:lstStyle/>
          <a:p>
            <a:pPr algn="l">
              <a:lnSpc>
                <a:spcPct val="100000"/>
              </a:lnSpc>
            </a:pPr>
            <a:r>
              <a:rPr sz="1500" b="0">
                <a:solidFill>
                  <a:srgbClr val="161A3E"/>
                </a:solidFill>
                <a:latin typeface="Calibri"/>
              </a:rPr>
              <a:t>The model fills gaps silently: airport choice, hotel location, commute time, meal breaks, and budget conversion.</a:t>
            </a:r>
          </a:p>
        </p:txBody>
      </p:sp>
      <p:sp>
        <p:nvSpPr>
          <p:cNvPr id="8" name="Rounded Rectangle 7"/>
          <p:cNvSpPr/>
          <p:nvPr/>
        </p:nvSpPr>
        <p:spPr>
          <a:xfrm>
            <a:off x="4206240" y="2155202"/>
            <a:ext cx="3401568" cy="2480806"/>
          </a:xfrm>
          <a:prstGeom prst="roundRect">
            <a:avLst/>
          </a:prstGeom>
          <a:solidFill>
            <a:srgbClr val="FFFFFF"/>
          </a:solidFill>
          <a:ln w="1524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206240" y="2133523"/>
            <a:ext cx="3401568" cy="433157"/>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400" b="1">
                <a:solidFill>
                  <a:srgbClr val="FFFFFF"/>
                </a:solidFill>
                <a:latin typeface="Calibri"/>
              </a:rPr>
              <a:t>No clean inspection point</a:t>
            </a:r>
          </a:p>
        </p:txBody>
      </p:sp>
      <p:sp>
        <p:nvSpPr>
          <p:cNvPr id="10" name="TextBox 9"/>
          <p:cNvSpPr txBox="1"/>
          <p:nvPr/>
        </p:nvSpPr>
        <p:spPr>
          <a:xfrm>
            <a:off x="4251959" y="2623930"/>
            <a:ext cx="3310128" cy="1984644"/>
          </a:xfrm>
          <a:prstGeom prst="rect">
            <a:avLst/>
          </a:prstGeom>
          <a:noFill/>
        </p:spPr>
        <p:txBody>
          <a:bodyPr wrap="square" tIns="54864" bIns="54864">
            <a:noAutofit/>
          </a:bodyPr>
          <a:lstStyle/>
          <a:p>
            <a:pPr algn="l">
              <a:lnSpc>
                <a:spcPct val="100000"/>
              </a:lnSpc>
            </a:pPr>
            <a:r>
              <a:rPr sz="1500" b="0">
                <a:solidFill>
                  <a:srgbClr val="161A3E"/>
                </a:solidFill>
                <a:latin typeface="Calibri"/>
              </a:rPr>
              <a:t>If the final itinerary is weak, it is hard to know whether the failure came from requirements, search, ranking, or synthesis.</a:t>
            </a:r>
          </a:p>
        </p:txBody>
      </p:sp>
      <p:sp>
        <p:nvSpPr>
          <p:cNvPr id="11" name="Rounded Rectangle 10"/>
          <p:cNvSpPr/>
          <p:nvPr/>
        </p:nvSpPr>
        <p:spPr>
          <a:xfrm>
            <a:off x="7735824" y="2155202"/>
            <a:ext cx="3401568" cy="2480806"/>
          </a:xfrm>
          <a:prstGeom prst="roundRect">
            <a:avLst/>
          </a:prstGeom>
          <a:solidFill>
            <a:srgbClr val="FFFFFF"/>
          </a:solidFill>
          <a:ln w="15240">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7735824" y="2133523"/>
            <a:ext cx="3401568" cy="433157"/>
          </a:xfrm>
          <a:prstGeom prst="round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400" b="1">
                <a:solidFill>
                  <a:srgbClr val="FFFFFF"/>
                </a:solidFill>
                <a:latin typeface="Calibri"/>
              </a:rPr>
              <a:t>No natural retry boundary</a:t>
            </a:r>
          </a:p>
        </p:txBody>
      </p:sp>
      <p:sp>
        <p:nvSpPr>
          <p:cNvPr id="13" name="TextBox 12"/>
          <p:cNvSpPr txBox="1"/>
          <p:nvPr/>
        </p:nvSpPr>
        <p:spPr>
          <a:xfrm>
            <a:off x="7781544" y="2623930"/>
            <a:ext cx="3310128" cy="1984644"/>
          </a:xfrm>
          <a:prstGeom prst="rect">
            <a:avLst/>
          </a:prstGeom>
          <a:noFill/>
        </p:spPr>
        <p:txBody>
          <a:bodyPr wrap="square" tIns="54864" bIns="54864">
            <a:noAutofit/>
          </a:bodyPr>
          <a:lstStyle/>
          <a:p>
            <a:pPr algn="l">
              <a:lnSpc>
                <a:spcPct val="100000"/>
              </a:lnSpc>
            </a:pPr>
            <a:r>
              <a:rPr sz="1500" b="0">
                <a:solidFill>
                  <a:srgbClr val="161A3E"/>
                </a:solidFill>
                <a:latin typeface="Calibri"/>
              </a:rPr>
              <a:t>A full re-prompt may rewrite everything instead of fixing the specific broken component.</a:t>
            </a:r>
          </a:p>
        </p:txBody>
      </p:sp>
      <p:sp>
        <p:nvSpPr>
          <p:cNvPr id="14" name="Rounded Rectangle 13"/>
          <p:cNvSpPr/>
          <p:nvPr/>
        </p:nvSpPr>
        <p:spPr>
          <a:xfrm>
            <a:off x="1188720" y="5074920"/>
            <a:ext cx="9829800" cy="530352"/>
          </a:xfrm>
          <a:prstGeom prst="roundRect">
            <a:avLst/>
          </a:prstGeom>
          <a:solidFill>
            <a:srgbClr val="D6E4F0"/>
          </a:solidFill>
          <a:ln w="15240">
            <a:solidFill>
              <a:srgbClr val="D6E4F0"/>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600" b="1" dirty="0">
                <a:solidFill>
                  <a:srgbClr val="161A3E"/>
                </a:solidFill>
                <a:latin typeface="Calibri"/>
              </a:rPr>
              <a:t>The project answer: split the problem into specialists, then make the manager responsible for integration.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76656" y="603504"/>
            <a:ext cx="10835640" cy="612648"/>
          </a:xfrm>
          <a:prstGeom prst="rect">
            <a:avLst/>
          </a:prstGeom>
          <a:noFill/>
        </p:spPr>
        <p:txBody>
          <a:bodyPr wrap="square" tIns="54864" bIns="54864">
            <a:noAutofit/>
          </a:bodyPr>
          <a:lstStyle/>
          <a:p>
            <a:pPr algn="l">
              <a:lnSpc>
                <a:spcPct val="100000"/>
              </a:lnSpc>
            </a:pPr>
            <a:r>
              <a:rPr sz="3100" b="1" dirty="0">
                <a:solidFill>
                  <a:srgbClr val="161A3E"/>
                </a:solidFill>
                <a:latin typeface="Calibri"/>
              </a:rPr>
              <a:t>Industry anchor: </a:t>
            </a:r>
            <a:r>
              <a:rPr sz="2800" b="1" dirty="0">
                <a:solidFill>
                  <a:srgbClr val="161A3E"/>
                </a:solidFill>
                <a:latin typeface="Calibri"/>
              </a:rPr>
              <a:t>conversational planning is becoming a product layer</a:t>
            </a: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555480" y="1143000"/>
            <a:ext cx="1947672" cy="292608"/>
          </a:xfrm>
          <a:prstGeom prst="round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000" b="1">
                <a:solidFill>
                  <a:srgbClr val="44546A"/>
                </a:solidFill>
                <a:latin typeface="Calibri"/>
              </a:rPr>
              <a:t>Real-world relevance</a:t>
            </a:r>
          </a:p>
        </p:txBody>
      </p:sp>
      <p:sp>
        <p:nvSpPr>
          <p:cNvPr id="5" name="Rounded Rectangle 4"/>
          <p:cNvSpPr/>
          <p:nvPr/>
        </p:nvSpPr>
        <p:spPr>
          <a:xfrm>
            <a:off x="777240" y="1828800"/>
            <a:ext cx="4892040" cy="2468880"/>
          </a:xfrm>
          <a:prstGeom prst="roundRect">
            <a:avLst/>
          </a:prstGeom>
          <a:solidFill>
            <a:srgbClr val="FFFFFF"/>
          </a:solidFill>
          <a:ln w="15240">
            <a:solidFill>
              <a:srgbClr val="161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77240" y="1828800"/>
            <a:ext cx="4892040" cy="502920"/>
          </a:xfrm>
          <a:prstGeom prst="roundRect">
            <a:avLst/>
          </a:prstGeom>
          <a:solidFill>
            <a:srgbClr val="161A3E"/>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400" b="1">
                <a:solidFill>
                  <a:srgbClr val="FFFFFF"/>
                </a:solidFill>
                <a:latin typeface="Calibri"/>
              </a:rPr>
              <a:t>Expedia-style experience</a:t>
            </a:r>
          </a:p>
        </p:txBody>
      </p:sp>
      <p:sp>
        <p:nvSpPr>
          <p:cNvPr id="7" name="TextBox 6"/>
          <p:cNvSpPr txBox="1"/>
          <p:nvPr/>
        </p:nvSpPr>
        <p:spPr>
          <a:xfrm>
            <a:off x="822960" y="2377439"/>
            <a:ext cx="4800600" cy="1892808"/>
          </a:xfrm>
          <a:prstGeom prst="rect">
            <a:avLst/>
          </a:prstGeom>
          <a:noFill/>
        </p:spPr>
        <p:txBody>
          <a:bodyPr wrap="square" tIns="54864" bIns="54864">
            <a:noAutofit/>
          </a:bodyPr>
          <a:lstStyle/>
          <a:p>
            <a:pPr algn="l">
              <a:lnSpc>
                <a:spcPct val="100000"/>
              </a:lnSpc>
            </a:pPr>
            <a:r>
              <a:rPr sz="1400" b="0">
                <a:solidFill>
                  <a:srgbClr val="161A3E"/>
                </a:solidFill>
                <a:latin typeface="Calibri"/>
              </a:rPr>
              <a:t>A chat interface helps travellers move from vague intent to concrete options. The important product lesson is not the chatbot alone — it is the connection between conversation, inventory, and booking flow.</a:t>
            </a:r>
          </a:p>
        </p:txBody>
      </p:sp>
      <p:sp>
        <p:nvSpPr>
          <p:cNvPr id="8" name="Rounded Rectangle 7"/>
          <p:cNvSpPr/>
          <p:nvPr/>
        </p:nvSpPr>
        <p:spPr>
          <a:xfrm>
            <a:off x="6492240" y="1828800"/>
            <a:ext cx="4892040" cy="2468880"/>
          </a:xfrm>
          <a:prstGeom prst="roundRect">
            <a:avLst/>
          </a:prstGeom>
          <a:solidFill>
            <a:srgbClr val="FFFFFF"/>
          </a:solidFill>
          <a:ln w="1524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492240" y="1828800"/>
            <a:ext cx="4892040" cy="502920"/>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400" b="1">
                <a:solidFill>
                  <a:srgbClr val="FFFFFF"/>
                </a:solidFill>
                <a:latin typeface="Calibri"/>
              </a:rPr>
              <a:t>Booking.com-style experience</a:t>
            </a:r>
          </a:p>
        </p:txBody>
      </p:sp>
      <p:sp>
        <p:nvSpPr>
          <p:cNvPr id="10" name="TextBox 9"/>
          <p:cNvSpPr txBox="1"/>
          <p:nvPr/>
        </p:nvSpPr>
        <p:spPr>
          <a:xfrm>
            <a:off x="6537959" y="2377439"/>
            <a:ext cx="4800600" cy="1892808"/>
          </a:xfrm>
          <a:prstGeom prst="rect">
            <a:avLst/>
          </a:prstGeom>
          <a:noFill/>
        </p:spPr>
        <p:txBody>
          <a:bodyPr wrap="square" tIns="54864" bIns="54864">
            <a:noAutofit/>
          </a:bodyPr>
          <a:lstStyle/>
          <a:p>
            <a:pPr algn="l">
              <a:lnSpc>
                <a:spcPct val="100000"/>
              </a:lnSpc>
            </a:pPr>
            <a:r>
              <a:rPr sz="1400" b="0">
                <a:solidFill>
                  <a:srgbClr val="161A3E"/>
                </a:solidFill>
                <a:latin typeface="Calibri"/>
              </a:rPr>
              <a:t>A planner can combine conversational exploration with destination, property, pricing, review, and deep-link information. The LLM sits on top of existing recommendation and search systems.</a:t>
            </a:r>
          </a:p>
        </p:txBody>
      </p:sp>
      <p:sp>
        <p:nvSpPr>
          <p:cNvPr id="11" name="Rounded Rectangle 10"/>
          <p:cNvSpPr/>
          <p:nvPr/>
        </p:nvSpPr>
        <p:spPr>
          <a:xfrm>
            <a:off x="1234440" y="4846320"/>
            <a:ext cx="9692640" cy="658368"/>
          </a:xfrm>
          <a:prstGeom prst="roundRect">
            <a:avLst/>
          </a:prstGeom>
          <a:solidFill>
            <a:srgbClr val="D6E4F0"/>
          </a:solidFill>
          <a:ln w="15240">
            <a:solidFill>
              <a:srgbClr val="4472C4"/>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700" b="1">
                <a:solidFill>
                  <a:srgbClr val="161A3E"/>
                </a:solidFill>
                <a:latin typeface="Calibri"/>
              </a:rPr>
              <a:t>Design takeaway: production travel assistants need tool-grounded planning, not only fluent itinerary prose.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76656" y="603504"/>
            <a:ext cx="10835640" cy="612648"/>
          </a:xfrm>
          <a:prstGeom prst="rect">
            <a:avLst/>
          </a:prstGeom>
          <a:noFill/>
        </p:spPr>
        <p:txBody>
          <a:bodyPr wrap="square" tIns="54864" bIns="54864">
            <a:noAutofit/>
          </a:bodyPr>
          <a:lstStyle/>
          <a:p>
            <a:pPr algn="l">
              <a:lnSpc>
                <a:spcPct val="100000"/>
              </a:lnSpc>
            </a:pPr>
            <a:r>
              <a:rPr sz="3100" b="1">
                <a:solidFill>
                  <a:srgbClr val="161A3E"/>
                </a:solidFill>
                <a:latin typeface="Calibri"/>
              </a:rPr>
              <a:t>Manager-worker is a coordination pattern, not just a diagram</a:t>
            </a: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555480" y="1143000"/>
            <a:ext cx="1947672" cy="292608"/>
          </a:xfrm>
          <a:prstGeom prst="round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000" b="1">
                <a:solidFill>
                  <a:srgbClr val="44546A"/>
                </a:solidFill>
                <a:latin typeface="Calibri"/>
              </a:rPr>
              <a:t>Architecture pattern</a:t>
            </a:r>
          </a:p>
        </p:txBody>
      </p:sp>
      <p:sp>
        <p:nvSpPr>
          <p:cNvPr id="5" name="Rounded Rectangle 4"/>
          <p:cNvSpPr/>
          <p:nvPr/>
        </p:nvSpPr>
        <p:spPr>
          <a:xfrm>
            <a:off x="4327497" y="1828800"/>
            <a:ext cx="3520440" cy="731520"/>
          </a:xfrm>
          <a:prstGeom prst="roundRect">
            <a:avLst/>
          </a:prstGeom>
          <a:solidFill>
            <a:srgbClr val="161A3E"/>
          </a:solidFill>
          <a:ln w="15240">
            <a:solidFill>
              <a:srgbClr val="161A3E"/>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600" b="1" dirty="0">
                <a:solidFill>
                  <a:srgbClr val="FFFFFF"/>
                </a:solidFill>
                <a:latin typeface="Calibri"/>
              </a:rPr>
              <a:t>Manager Agent</a:t>
            </a:r>
          </a:p>
          <a:p>
            <a:pPr algn="ctr">
              <a:lnSpc>
                <a:spcPct val="100000"/>
              </a:lnSpc>
            </a:pPr>
            <a:r>
              <a:rPr sz="1600" b="1" dirty="0">
                <a:solidFill>
                  <a:srgbClr val="FFFFFF"/>
                </a:solidFill>
                <a:latin typeface="Calibri"/>
              </a:rPr>
              <a:t>understands, delegates, </a:t>
            </a:r>
            <a:r>
              <a:rPr sz="1600" b="1" dirty="0" err="1">
                <a:solidFill>
                  <a:srgbClr val="FFFFFF"/>
                </a:solidFill>
                <a:latin typeface="Calibri"/>
              </a:rPr>
              <a:t>synthesises</a:t>
            </a:r>
            <a:endParaRPr sz="1600" b="1" dirty="0">
              <a:solidFill>
                <a:srgbClr val="FFFFFF"/>
              </a:solidFill>
              <a:latin typeface="Calibri"/>
            </a:endParaRPr>
          </a:p>
        </p:txBody>
      </p:sp>
      <p:sp>
        <p:nvSpPr>
          <p:cNvPr id="6" name="Rounded Rectangle 5"/>
          <p:cNvSpPr/>
          <p:nvPr/>
        </p:nvSpPr>
        <p:spPr>
          <a:xfrm>
            <a:off x="773265" y="3273552"/>
            <a:ext cx="2331720" cy="1078992"/>
          </a:xfrm>
          <a:prstGeom prst="roundRect">
            <a:avLst/>
          </a:prstGeom>
          <a:solidFill>
            <a:srgbClr val="D6E4F0"/>
          </a:solidFill>
          <a:ln w="15240">
            <a:solidFill>
              <a:srgbClr val="4472C4"/>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300" b="1">
                <a:solidFill>
                  <a:srgbClr val="161A3E"/>
                </a:solidFill>
                <a:latin typeface="Calibri"/>
              </a:rPr>
              <a:t>Flight Worker</a:t>
            </a:r>
          </a:p>
          <a:p>
            <a:pPr algn="ctr">
              <a:lnSpc>
                <a:spcPct val="100000"/>
              </a:lnSpc>
            </a:pPr>
            <a:r>
              <a:rPr sz="1300" b="1">
                <a:solidFill>
                  <a:srgbClr val="161A3E"/>
                </a:solidFill>
                <a:latin typeface="Calibri"/>
              </a:rPr>
              <a:t>route options</a:t>
            </a:r>
          </a:p>
          <a:p>
            <a:pPr algn="ctr">
              <a:lnSpc>
                <a:spcPct val="100000"/>
              </a:lnSpc>
            </a:pPr>
            <a:r>
              <a:rPr sz="1300" b="1">
                <a:solidFill>
                  <a:srgbClr val="161A3E"/>
                </a:solidFill>
                <a:latin typeface="Calibri"/>
              </a:rPr>
              <a:t>schedule constraints</a:t>
            </a:r>
          </a:p>
        </p:txBody>
      </p:sp>
      <p:cxnSp>
        <p:nvCxnSpPr>
          <p:cNvPr id="7" name="Connector 6"/>
          <p:cNvCxnSpPr>
            <a:cxnSpLocks/>
            <a:stCxn id="5" idx="2"/>
            <a:endCxn id="6" idx="0"/>
          </p:cNvCxnSpPr>
          <p:nvPr/>
        </p:nvCxnSpPr>
        <p:spPr>
          <a:xfrm flipH="1">
            <a:off x="1939125" y="2560320"/>
            <a:ext cx="4148592" cy="713232"/>
          </a:xfrm>
          <a:prstGeom prst="line">
            <a:avLst/>
          </a:prstGeom>
          <a:ln w="9525" cap="flat" cmpd="sng" algn="ctr">
            <a:solidFill>
              <a:schemeClr val="accent5"/>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8" name="Rounded Rectangle 7"/>
          <p:cNvSpPr/>
          <p:nvPr/>
        </p:nvSpPr>
        <p:spPr>
          <a:xfrm>
            <a:off x="3562185" y="3273552"/>
            <a:ext cx="2331720" cy="1078992"/>
          </a:xfrm>
          <a:prstGeom prst="roundRect">
            <a:avLst/>
          </a:prstGeom>
          <a:solidFill>
            <a:srgbClr val="D6E4F0"/>
          </a:solidFill>
          <a:ln w="15240">
            <a:solidFill>
              <a:srgbClr val="4472C4"/>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300" b="1">
                <a:solidFill>
                  <a:srgbClr val="161A3E"/>
                </a:solidFill>
                <a:latin typeface="Calibri"/>
              </a:rPr>
              <a:t>Hotel Worker</a:t>
            </a:r>
          </a:p>
          <a:p>
            <a:pPr algn="ctr">
              <a:lnSpc>
                <a:spcPct val="100000"/>
              </a:lnSpc>
            </a:pPr>
            <a:r>
              <a:rPr sz="1300" b="1">
                <a:solidFill>
                  <a:srgbClr val="161A3E"/>
                </a:solidFill>
                <a:latin typeface="Calibri"/>
              </a:rPr>
              <a:t>budget, location</a:t>
            </a:r>
          </a:p>
          <a:p>
            <a:pPr algn="ctr">
              <a:lnSpc>
                <a:spcPct val="100000"/>
              </a:lnSpc>
            </a:pPr>
            <a:r>
              <a:rPr sz="1300" b="1">
                <a:solidFill>
                  <a:srgbClr val="161A3E"/>
                </a:solidFill>
                <a:latin typeface="Calibri"/>
              </a:rPr>
              <a:t>ratings, amenities</a:t>
            </a:r>
          </a:p>
        </p:txBody>
      </p:sp>
      <p:cxnSp>
        <p:nvCxnSpPr>
          <p:cNvPr id="9" name="Connector 8"/>
          <p:cNvCxnSpPr>
            <a:cxnSpLocks/>
            <a:stCxn id="5" idx="2"/>
            <a:endCxn id="8" idx="0"/>
          </p:cNvCxnSpPr>
          <p:nvPr/>
        </p:nvCxnSpPr>
        <p:spPr>
          <a:xfrm flipH="1">
            <a:off x="4728045" y="2560320"/>
            <a:ext cx="1359672" cy="713232"/>
          </a:xfrm>
          <a:prstGeom prst="line">
            <a:avLst/>
          </a:prstGeom>
          <a:ln w="9525" cap="flat" cmpd="sng" algn="ctr">
            <a:solidFill>
              <a:schemeClr val="accent5"/>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10" name="Rounded Rectangle 9"/>
          <p:cNvSpPr/>
          <p:nvPr/>
        </p:nvSpPr>
        <p:spPr>
          <a:xfrm>
            <a:off x="6281532" y="3273552"/>
            <a:ext cx="2331720" cy="1078992"/>
          </a:xfrm>
          <a:prstGeom prst="roundRect">
            <a:avLst/>
          </a:prstGeom>
          <a:solidFill>
            <a:srgbClr val="D6E4F0"/>
          </a:solidFill>
          <a:ln w="15240">
            <a:solidFill>
              <a:srgbClr val="4472C4"/>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300" b="1">
                <a:solidFill>
                  <a:srgbClr val="161A3E"/>
                </a:solidFill>
                <a:latin typeface="Calibri"/>
              </a:rPr>
              <a:t>Activity Worker</a:t>
            </a:r>
          </a:p>
          <a:p>
            <a:pPr algn="ctr">
              <a:lnSpc>
                <a:spcPct val="100000"/>
              </a:lnSpc>
            </a:pPr>
            <a:r>
              <a:rPr sz="1300" b="1">
                <a:solidFill>
                  <a:srgbClr val="161A3E"/>
                </a:solidFill>
                <a:latin typeface="Calibri"/>
              </a:rPr>
              <a:t>interests, pacing</a:t>
            </a:r>
          </a:p>
          <a:p>
            <a:pPr algn="ctr">
              <a:lnSpc>
                <a:spcPct val="100000"/>
              </a:lnSpc>
            </a:pPr>
            <a:r>
              <a:rPr sz="1300" b="1">
                <a:solidFill>
                  <a:srgbClr val="161A3E"/>
                </a:solidFill>
                <a:latin typeface="Calibri"/>
              </a:rPr>
              <a:t>neighbourhood logic</a:t>
            </a:r>
          </a:p>
        </p:txBody>
      </p:sp>
      <p:cxnSp>
        <p:nvCxnSpPr>
          <p:cNvPr id="11" name="Connector 10"/>
          <p:cNvCxnSpPr>
            <a:cxnSpLocks/>
            <a:stCxn id="5" idx="2"/>
            <a:endCxn id="10" idx="0"/>
          </p:cNvCxnSpPr>
          <p:nvPr/>
        </p:nvCxnSpPr>
        <p:spPr>
          <a:xfrm>
            <a:off x="6087717" y="2560320"/>
            <a:ext cx="1359675" cy="713232"/>
          </a:xfrm>
          <a:prstGeom prst="line">
            <a:avLst/>
          </a:prstGeom>
          <a:ln w="9525" cap="flat" cmpd="sng" algn="ctr">
            <a:solidFill>
              <a:schemeClr val="accent5"/>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12" name="Rounded Rectangle 11"/>
          <p:cNvSpPr/>
          <p:nvPr/>
        </p:nvSpPr>
        <p:spPr>
          <a:xfrm>
            <a:off x="9070452" y="3273552"/>
            <a:ext cx="2331720" cy="1078992"/>
          </a:xfrm>
          <a:prstGeom prst="roundRect">
            <a:avLst/>
          </a:prstGeom>
          <a:solidFill>
            <a:srgbClr val="D6E4F0"/>
          </a:solidFill>
          <a:ln w="15240">
            <a:solidFill>
              <a:srgbClr val="4472C4"/>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300" b="1">
                <a:solidFill>
                  <a:srgbClr val="161A3E"/>
                </a:solidFill>
                <a:latin typeface="Calibri"/>
              </a:rPr>
              <a:t>Critic Agent</a:t>
            </a:r>
          </a:p>
          <a:p>
            <a:pPr algn="ctr">
              <a:lnSpc>
                <a:spcPct val="100000"/>
              </a:lnSpc>
            </a:pPr>
            <a:r>
              <a:rPr sz="1300" b="1">
                <a:solidFill>
                  <a:srgbClr val="161A3E"/>
                </a:solidFill>
                <a:latin typeface="Calibri"/>
              </a:rPr>
              <a:t>checks gaps</a:t>
            </a:r>
          </a:p>
          <a:p>
            <a:pPr algn="ctr">
              <a:lnSpc>
                <a:spcPct val="100000"/>
              </a:lnSpc>
            </a:pPr>
            <a:r>
              <a:rPr sz="1300" b="1">
                <a:solidFill>
                  <a:srgbClr val="161A3E"/>
                </a:solidFill>
                <a:latin typeface="Calibri"/>
              </a:rPr>
              <a:t>suggests fixes</a:t>
            </a:r>
          </a:p>
        </p:txBody>
      </p:sp>
      <p:cxnSp>
        <p:nvCxnSpPr>
          <p:cNvPr id="13" name="Connector 12"/>
          <p:cNvCxnSpPr>
            <a:cxnSpLocks/>
            <a:stCxn id="5" idx="2"/>
            <a:endCxn id="12" idx="0"/>
          </p:cNvCxnSpPr>
          <p:nvPr/>
        </p:nvCxnSpPr>
        <p:spPr>
          <a:xfrm>
            <a:off x="6087717" y="2560320"/>
            <a:ext cx="4148595" cy="713232"/>
          </a:xfrm>
          <a:prstGeom prst="line">
            <a:avLst/>
          </a:prstGeom>
          <a:ln w="9525" cap="flat" cmpd="sng" algn="ctr">
            <a:solidFill>
              <a:schemeClr val="accent5"/>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14" name="Rounded Rectangle 13"/>
          <p:cNvSpPr/>
          <p:nvPr/>
        </p:nvSpPr>
        <p:spPr>
          <a:xfrm>
            <a:off x="4007456" y="4983480"/>
            <a:ext cx="4160520" cy="658368"/>
          </a:xfrm>
          <a:prstGeom prst="roundRect">
            <a:avLst/>
          </a:prstGeom>
          <a:solidFill>
            <a:srgbClr val="4472C4"/>
          </a:solidFill>
          <a:ln w="15240">
            <a:solidFill>
              <a:srgbClr val="4472C4"/>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550" b="1" dirty="0">
                <a:solidFill>
                  <a:srgbClr val="FFFFFF"/>
                </a:solidFill>
                <a:latin typeface="Calibri"/>
              </a:rPr>
              <a:t>Final itinerary + explanation of trade-offs</a:t>
            </a:r>
          </a:p>
        </p:txBody>
      </p:sp>
      <p:cxnSp>
        <p:nvCxnSpPr>
          <p:cNvPr id="15" name="Connector 14"/>
          <p:cNvCxnSpPr>
            <a:cxnSpLocks/>
            <a:stCxn id="5" idx="2"/>
            <a:endCxn id="14" idx="0"/>
          </p:cNvCxnSpPr>
          <p:nvPr/>
        </p:nvCxnSpPr>
        <p:spPr>
          <a:xfrm flipH="1">
            <a:off x="6087716" y="2560320"/>
            <a:ext cx="1" cy="2423160"/>
          </a:xfrm>
          <a:prstGeom prst="line">
            <a:avLst/>
          </a:prstGeom>
          <a:ln w="25400">
            <a:solidFill>
              <a:srgbClr val="161A3E"/>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76656" y="603504"/>
            <a:ext cx="10835640" cy="612648"/>
          </a:xfrm>
          <a:prstGeom prst="rect">
            <a:avLst/>
          </a:prstGeom>
          <a:noFill/>
        </p:spPr>
        <p:txBody>
          <a:bodyPr wrap="square" tIns="54864" bIns="54864">
            <a:noAutofit/>
          </a:bodyPr>
          <a:lstStyle/>
          <a:p>
            <a:pPr algn="l">
              <a:lnSpc>
                <a:spcPct val="100000"/>
              </a:lnSpc>
            </a:pPr>
            <a:r>
              <a:rPr sz="3100" b="1">
                <a:solidFill>
                  <a:srgbClr val="161A3E"/>
                </a:solidFill>
                <a:latin typeface="Calibri"/>
              </a:rPr>
              <a:t>Each agent gets a narrow job and a clear boundary</a:t>
            </a: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555480" y="1143000"/>
            <a:ext cx="1947672" cy="292608"/>
          </a:xfrm>
          <a:prstGeom prst="round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000" b="1">
                <a:solidFill>
                  <a:srgbClr val="44546A"/>
                </a:solidFill>
                <a:latin typeface="Calibri"/>
              </a:rPr>
              <a:t>Role design</a:t>
            </a:r>
          </a:p>
        </p:txBody>
      </p:sp>
      <p:sp>
        <p:nvSpPr>
          <p:cNvPr id="5" name="Rectangle 4"/>
          <p:cNvSpPr/>
          <p:nvPr/>
        </p:nvSpPr>
        <p:spPr>
          <a:xfrm>
            <a:off x="880605" y="1802958"/>
            <a:ext cx="1828800" cy="438912"/>
          </a:xfrm>
          <a:prstGeom prst="rect">
            <a:avLst/>
          </a:prstGeom>
          <a:solidFill>
            <a:srgbClr val="161A3E"/>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300" b="1">
                <a:solidFill>
                  <a:srgbClr val="FFFFFF"/>
                </a:solidFill>
                <a:latin typeface="Calibri"/>
              </a:rPr>
              <a:t>Role</a:t>
            </a:r>
          </a:p>
        </p:txBody>
      </p:sp>
      <p:sp>
        <p:nvSpPr>
          <p:cNvPr id="6" name="Rectangle 5"/>
          <p:cNvSpPr/>
          <p:nvPr/>
        </p:nvSpPr>
        <p:spPr>
          <a:xfrm>
            <a:off x="2938005" y="1802958"/>
            <a:ext cx="2377440" cy="438912"/>
          </a:xfrm>
          <a:prstGeom prst="rect">
            <a:avLst/>
          </a:prstGeom>
          <a:solidFill>
            <a:srgbClr val="161A3E"/>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300" b="1">
                <a:solidFill>
                  <a:srgbClr val="FFFFFF"/>
                </a:solidFill>
                <a:latin typeface="Calibri"/>
              </a:rPr>
              <a:t>Owns</a:t>
            </a:r>
          </a:p>
        </p:txBody>
      </p:sp>
      <p:sp>
        <p:nvSpPr>
          <p:cNvPr id="7" name="Rectangle 6"/>
          <p:cNvSpPr/>
          <p:nvPr/>
        </p:nvSpPr>
        <p:spPr>
          <a:xfrm>
            <a:off x="5589765" y="1802958"/>
            <a:ext cx="2377440" cy="438912"/>
          </a:xfrm>
          <a:prstGeom prst="rect">
            <a:avLst/>
          </a:prstGeom>
          <a:solidFill>
            <a:srgbClr val="161A3E"/>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300" b="1">
                <a:solidFill>
                  <a:srgbClr val="FFFFFF"/>
                </a:solidFill>
                <a:latin typeface="Calibri"/>
              </a:rPr>
              <a:t>Must not own</a:t>
            </a:r>
          </a:p>
        </p:txBody>
      </p:sp>
      <p:sp>
        <p:nvSpPr>
          <p:cNvPr id="8" name="Rectangle 7"/>
          <p:cNvSpPr/>
          <p:nvPr/>
        </p:nvSpPr>
        <p:spPr>
          <a:xfrm>
            <a:off x="8287245" y="1802958"/>
            <a:ext cx="3017520" cy="438912"/>
          </a:xfrm>
          <a:prstGeom prst="rect">
            <a:avLst/>
          </a:prstGeom>
          <a:solidFill>
            <a:srgbClr val="161A3E"/>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300" b="1">
                <a:solidFill>
                  <a:srgbClr val="FFFFFF"/>
                </a:solidFill>
                <a:latin typeface="Calibri"/>
              </a:rPr>
              <a:t>Output contract</a:t>
            </a:r>
          </a:p>
        </p:txBody>
      </p:sp>
      <p:sp>
        <p:nvSpPr>
          <p:cNvPr id="9" name="Rectangle 8"/>
          <p:cNvSpPr/>
          <p:nvPr/>
        </p:nvSpPr>
        <p:spPr>
          <a:xfrm>
            <a:off x="880605" y="2241870"/>
            <a:ext cx="1828800" cy="521207"/>
          </a:xfrm>
          <a:prstGeom prst="rect">
            <a:avLst/>
          </a:prstGeom>
          <a:solidFill>
            <a:srgbClr val="FFFFFF"/>
          </a:solidFill>
          <a:ln w="8890">
            <a:solidFill>
              <a:srgbClr val="D6E4F0"/>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080" b="1">
                <a:solidFill>
                  <a:srgbClr val="161A3E"/>
                </a:solidFill>
                <a:latin typeface="Calibri"/>
              </a:rPr>
              <a:t>Manager</a:t>
            </a:r>
          </a:p>
        </p:txBody>
      </p:sp>
      <p:sp>
        <p:nvSpPr>
          <p:cNvPr id="10" name="Rectangle 9"/>
          <p:cNvSpPr/>
          <p:nvPr/>
        </p:nvSpPr>
        <p:spPr>
          <a:xfrm>
            <a:off x="2938005" y="2241870"/>
            <a:ext cx="2377440" cy="521207"/>
          </a:xfrm>
          <a:prstGeom prst="rect">
            <a:avLst/>
          </a:prstGeom>
          <a:solidFill>
            <a:srgbClr val="FFFFFF"/>
          </a:solidFill>
          <a:ln w="8890">
            <a:solidFill>
              <a:srgbClr val="D6E4F0"/>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080" b="0">
                <a:solidFill>
                  <a:srgbClr val="44546A"/>
                </a:solidFill>
                <a:latin typeface="Calibri"/>
              </a:rPr>
              <a:t>requirements, delegation, final answer</a:t>
            </a:r>
          </a:p>
        </p:txBody>
      </p:sp>
      <p:sp>
        <p:nvSpPr>
          <p:cNvPr id="11" name="Rectangle 10"/>
          <p:cNvSpPr/>
          <p:nvPr/>
        </p:nvSpPr>
        <p:spPr>
          <a:xfrm>
            <a:off x="5589765" y="2241870"/>
            <a:ext cx="2377440" cy="521207"/>
          </a:xfrm>
          <a:prstGeom prst="rect">
            <a:avLst/>
          </a:prstGeom>
          <a:solidFill>
            <a:srgbClr val="FFFFFF"/>
          </a:solidFill>
          <a:ln w="8890">
            <a:solidFill>
              <a:srgbClr val="D6E4F0"/>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080" b="0">
                <a:solidFill>
                  <a:srgbClr val="44546A"/>
                </a:solidFill>
                <a:latin typeface="Calibri"/>
              </a:rPr>
              <a:t>raw travel search</a:t>
            </a:r>
          </a:p>
        </p:txBody>
      </p:sp>
      <p:sp>
        <p:nvSpPr>
          <p:cNvPr id="12" name="Rectangle 11"/>
          <p:cNvSpPr/>
          <p:nvPr/>
        </p:nvSpPr>
        <p:spPr>
          <a:xfrm>
            <a:off x="8287245" y="2241870"/>
            <a:ext cx="3017520" cy="521207"/>
          </a:xfrm>
          <a:prstGeom prst="rect">
            <a:avLst/>
          </a:prstGeom>
          <a:solidFill>
            <a:srgbClr val="FFFFFF"/>
          </a:solidFill>
          <a:ln w="8890">
            <a:solidFill>
              <a:srgbClr val="D6E4F0"/>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080" b="0">
                <a:solidFill>
                  <a:srgbClr val="44546A"/>
                </a:solidFill>
                <a:latin typeface="Calibri"/>
              </a:rPr>
              <a:t>request summary + final plan</a:t>
            </a:r>
          </a:p>
        </p:txBody>
      </p:sp>
      <p:sp>
        <p:nvSpPr>
          <p:cNvPr id="13" name="Rectangle 12"/>
          <p:cNvSpPr/>
          <p:nvPr/>
        </p:nvSpPr>
        <p:spPr>
          <a:xfrm>
            <a:off x="880605" y="2763078"/>
            <a:ext cx="1828800" cy="521207"/>
          </a:xfrm>
          <a:prstGeom prst="rect">
            <a:avLst/>
          </a:prstGeom>
          <a:solidFill>
            <a:srgbClr val="F2F2F2"/>
          </a:solidFill>
          <a:ln w="8890">
            <a:solidFill>
              <a:srgbClr val="D6E4F0"/>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080" b="1">
                <a:solidFill>
                  <a:srgbClr val="161A3E"/>
                </a:solidFill>
                <a:latin typeface="Calibri"/>
              </a:rPr>
              <a:t>Flight</a:t>
            </a:r>
          </a:p>
        </p:txBody>
      </p:sp>
      <p:sp>
        <p:nvSpPr>
          <p:cNvPr id="14" name="Rectangle 13"/>
          <p:cNvSpPr/>
          <p:nvPr/>
        </p:nvSpPr>
        <p:spPr>
          <a:xfrm>
            <a:off x="2938005" y="2763078"/>
            <a:ext cx="2377440" cy="521207"/>
          </a:xfrm>
          <a:prstGeom prst="rect">
            <a:avLst/>
          </a:prstGeom>
          <a:solidFill>
            <a:srgbClr val="F2F2F2"/>
          </a:solidFill>
          <a:ln w="8890">
            <a:solidFill>
              <a:srgbClr val="D6E4F0"/>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080" b="0">
                <a:solidFill>
                  <a:srgbClr val="44546A"/>
                </a:solidFill>
                <a:latin typeface="Calibri"/>
              </a:rPr>
              <a:t>route and timing options</a:t>
            </a:r>
          </a:p>
        </p:txBody>
      </p:sp>
      <p:sp>
        <p:nvSpPr>
          <p:cNvPr id="15" name="Rectangle 14"/>
          <p:cNvSpPr/>
          <p:nvPr/>
        </p:nvSpPr>
        <p:spPr>
          <a:xfrm>
            <a:off x="5589765" y="2763078"/>
            <a:ext cx="2377440" cy="521207"/>
          </a:xfrm>
          <a:prstGeom prst="rect">
            <a:avLst/>
          </a:prstGeom>
          <a:solidFill>
            <a:srgbClr val="F2F2F2"/>
          </a:solidFill>
          <a:ln w="8890">
            <a:solidFill>
              <a:srgbClr val="D6E4F0"/>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080" b="0">
                <a:solidFill>
                  <a:srgbClr val="44546A"/>
                </a:solidFill>
                <a:latin typeface="Calibri"/>
              </a:rPr>
              <a:t>hotel or activity logic</a:t>
            </a:r>
          </a:p>
        </p:txBody>
      </p:sp>
      <p:sp>
        <p:nvSpPr>
          <p:cNvPr id="16" name="Rectangle 15"/>
          <p:cNvSpPr/>
          <p:nvPr/>
        </p:nvSpPr>
        <p:spPr>
          <a:xfrm>
            <a:off x="8287245" y="2763078"/>
            <a:ext cx="3017520" cy="521207"/>
          </a:xfrm>
          <a:prstGeom prst="rect">
            <a:avLst/>
          </a:prstGeom>
          <a:solidFill>
            <a:srgbClr val="F2F2F2"/>
          </a:solidFill>
          <a:ln w="8890">
            <a:solidFill>
              <a:srgbClr val="D6E4F0"/>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080" b="0">
                <a:solidFill>
                  <a:srgbClr val="44546A"/>
                </a:solidFill>
                <a:latin typeface="Calibri"/>
              </a:rPr>
              <a:t>ranked flight options</a:t>
            </a:r>
          </a:p>
        </p:txBody>
      </p:sp>
      <p:sp>
        <p:nvSpPr>
          <p:cNvPr id="17" name="Rectangle 16"/>
          <p:cNvSpPr/>
          <p:nvPr/>
        </p:nvSpPr>
        <p:spPr>
          <a:xfrm>
            <a:off x="880605" y="3284286"/>
            <a:ext cx="1828800" cy="521207"/>
          </a:xfrm>
          <a:prstGeom prst="rect">
            <a:avLst/>
          </a:prstGeom>
          <a:solidFill>
            <a:srgbClr val="FFFFFF"/>
          </a:solidFill>
          <a:ln w="8890">
            <a:solidFill>
              <a:srgbClr val="D6E4F0"/>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080" b="1">
                <a:solidFill>
                  <a:srgbClr val="161A3E"/>
                </a:solidFill>
                <a:latin typeface="Calibri"/>
              </a:rPr>
              <a:t>Hotel</a:t>
            </a:r>
          </a:p>
        </p:txBody>
      </p:sp>
      <p:sp>
        <p:nvSpPr>
          <p:cNvPr id="18" name="Rectangle 17"/>
          <p:cNvSpPr/>
          <p:nvPr/>
        </p:nvSpPr>
        <p:spPr>
          <a:xfrm>
            <a:off x="2938005" y="3284286"/>
            <a:ext cx="2377440" cy="521207"/>
          </a:xfrm>
          <a:prstGeom prst="rect">
            <a:avLst/>
          </a:prstGeom>
          <a:solidFill>
            <a:srgbClr val="FFFFFF"/>
          </a:solidFill>
          <a:ln w="8890">
            <a:solidFill>
              <a:srgbClr val="D6E4F0"/>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080" b="0">
                <a:solidFill>
                  <a:srgbClr val="44546A"/>
                </a:solidFill>
                <a:latin typeface="Calibri"/>
              </a:rPr>
              <a:t>stay options and trade-offs</a:t>
            </a:r>
          </a:p>
        </p:txBody>
      </p:sp>
      <p:sp>
        <p:nvSpPr>
          <p:cNvPr id="19" name="Rectangle 18"/>
          <p:cNvSpPr/>
          <p:nvPr/>
        </p:nvSpPr>
        <p:spPr>
          <a:xfrm>
            <a:off x="5589765" y="3284286"/>
            <a:ext cx="2377440" cy="521207"/>
          </a:xfrm>
          <a:prstGeom prst="rect">
            <a:avLst/>
          </a:prstGeom>
          <a:solidFill>
            <a:srgbClr val="FFFFFF"/>
          </a:solidFill>
          <a:ln w="8890">
            <a:solidFill>
              <a:srgbClr val="D6E4F0"/>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080" b="0">
                <a:solidFill>
                  <a:srgbClr val="44546A"/>
                </a:solidFill>
                <a:latin typeface="Calibri"/>
              </a:rPr>
              <a:t>full itinerary</a:t>
            </a:r>
          </a:p>
        </p:txBody>
      </p:sp>
      <p:sp>
        <p:nvSpPr>
          <p:cNvPr id="20" name="Rectangle 19"/>
          <p:cNvSpPr/>
          <p:nvPr/>
        </p:nvSpPr>
        <p:spPr>
          <a:xfrm>
            <a:off x="8287245" y="3284286"/>
            <a:ext cx="3017520" cy="521207"/>
          </a:xfrm>
          <a:prstGeom prst="rect">
            <a:avLst/>
          </a:prstGeom>
          <a:solidFill>
            <a:srgbClr val="FFFFFF"/>
          </a:solidFill>
          <a:ln w="8890">
            <a:solidFill>
              <a:srgbClr val="D6E4F0"/>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080" b="0">
                <a:solidFill>
                  <a:srgbClr val="44546A"/>
                </a:solidFill>
                <a:latin typeface="Calibri"/>
              </a:rPr>
              <a:t>ranked hotel options</a:t>
            </a:r>
          </a:p>
        </p:txBody>
      </p:sp>
      <p:sp>
        <p:nvSpPr>
          <p:cNvPr id="21" name="Rectangle 20"/>
          <p:cNvSpPr/>
          <p:nvPr/>
        </p:nvSpPr>
        <p:spPr>
          <a:xfrm>
            <a:off x="880605" y="3805493"/>
            <a:ext cx="1828800" cy="521207"/>
          </a:xfrm>
          <a:prstGeom prst="rect">
            <a:avLst/>
          </a:prstGeom>
          <a:solidFill>
            <a:srgbClr val="F2F2F2"/>
          </a:solidFill>
          <a:ln w="8890">
            <a:solidFill>
              <a:srgbClr val="D6E4F0"/>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080" b="1">
                <a:solidFill>
                  <a:srgbClr val="161A3E"/>
                </a:solidFill>
                <a:latin typeface="Calibri"/>
              </a:rPr>
              <a:t>Activity</a:t>
            </a:r>
          </a:p>
        </p:txBody>
      </p:sp>
      <p:sp>
        <p:nvSpPr>
          <p:cNvPr id="22" name="Rectangle 21"/>
          <p:cNvSpPr/>
          <p:nvPr/>
        </p:nvSpPr>
        <p:spPr>
          <a:xfrm>
            <a:off x="2938005" y="3805493"/>
            <a:ext cx="2377440" cy="521207"/>
          </a:xfrm>
          <a:prstGeom prst="rect">
            <a:avLst/>
          </a:prstGeom>
          <a:solidFill>
            <a:srgbClr val="F2F2F2"/>
          </a:solidFill>
          <a:ln w="8890">
            <a:solidFill>
              <a:srgbClr val="D6E4F0"/>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080" b="0">
                <a:solidFill>
                  <a:srgbClr val="44546A"/>
                </a:solidFill>
                <a:latin typeface="Calibri"/>
              </a:rPr>
              <a:t>day-wise activity candidates</a:t>
            </a:r>
          </a:p>
        </p:txBody>
      </p:sp>
      <p:sp>
        <p:nvSpPr>
          <p:cNvPr id="23" name="Rectangle 22"/>
          <p:cNvSpPr/>
          <p:nvPr/>
        </p:nvSpPr>
        <p:spPr>
          <a:xfrm>
            <a:off x="5589765" y="3805493"/>
            <a:ext cx="2377440" cy="521207"/>
          </a:xfrm>
          <a:prstGeom prst="rect">
            <a:avLst/>
          </a:prstGeom>
          <a:solidFill>
            <a:srgbClr val="F2F2F2"/>
          </a:solidFill>
          <a:ln w="8890">
            <a:solidFill>
              <a:srgbClr val="D6E4F0"/>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080" b="0">
                <a:solidFill>
                  <a:srgbClr val="44546A"/>
                </a:solidFill>
                <a:latin typeface="Calibri"/>
              </a:rPr>
              <a:t>flight/hotel decisions</a:t>
            </a:r>
          </a:p>
        </p:txBody>
      </p:sp>
      <p:sp>
        <p:nvSpPr>
          <p:cNvPr id="24" name="Rectangle 23"/>
          <p:cNvSpPr/>
          <p:nvPr/>
        </p:nvSpPr>
        <p:spPr>
          <a:xfrm>
            <a:off x="8287245" y="3805493"/>
            <a:ext cx="3017520" cy="521207"/>
          </a:xfrm>
          <a:prstGeom prst="rect">
            <a:avLst/>
          </a:prstGeom>
          <a:solidFill>
            <a:srgbClr val="F2F2F2"/>
          </a:solidFill>
          <a:ln w="8890">
            <a:solidFill>
              <a:srgbClr val="D6E4F0"/>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080" b="0">
                <a:solidFill>
                  <a:srgbClr val="44546A"/>
                </a:solidFill>
                <a:latin typeface="Calibri"/>
              </a:rPr>
              <a:t>activity blocks</a:t>
            </a:r>
          </a:p>
        </p:txBody>
      </p:sp>
      <p:sp>
        <p:nvSpPr>
          <p:cNvPr id="25" name="Rectangle 24"/>
          <p:cNvSpPr/>
          <p:nvPr/>
        </p:nvSpPr>
        <p:spPr>
          <a:xfrm>
            <a:off x="880605" y="4326702"/>
            <a:ext cx="1828800" cy="521207"/>
          </a:xfrm>
          <a:prstGeom prst="rect">
            <a:avLst/>
          </a:prstGeom>
          <a:solidFill>
            <a:srgbClr val="FFFFFF"/>
          </a:solidFill>
          <a:ln w="8890">
            <a:solidFill>
              <a:srgbClr val="D6E4F0"/>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080" b="1">
                <a:solidFill>
                  <a:srgbClr val="161A3E"/>
                </a:solidFill>
                <a:latin typeface="Calibri"/>
              </a:rPr>
              <a:t>Critic</a:t>
            </a:r>
          </a:p>
        </p:txBody>
      </p:sp>
      <p:sp>
        <p:nvSpPr>
          <p:cNvPr id="26" name="Rectangle 25"/>
          <p:cNvSpPr/>
          <p:nvPr/>
        </p:nvSpPr>
        <p:spPr>
          <a:xfrm>
            <a:off x="2938005" y="4326702"/>
            <a:ext cx="2377440" cy="521207"/>
          </a:xfrm>
          <a:prstGeom prst="rect">
            <a:avLst/>
          </a:prstGeom>
          <a:solidFill>
            <a:srgbClr val="FFFFFF"/>
          </a:solidFill>
          <a:ln w="8890">
            <a:solidFill>
              <a:srgbClr val="D6E4F0"/>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080" b="0">
                <a:solidFill>
                  <a:srgbClr val="44546A"/>
                </a:solidFill>
                <a:latin typeface="Calibri"/>
              </a:rPr>
              <a:t>quality checks and repair advice</a:t>
            </a:r>
          </a:p>
        </p:txBody>
      </p:sp>
      <p:sp>
        <p:nvSpPr>
          <p:cNvPr id="27" name="Rectangle 26"/>
          <p:cNvSpPr/>
          <p:nvPr/>
        </p:nvSpPr>
        <p:spPr>
          <a:xfrm>
            <a:off x="5589765" y="4326702"/>
            <a:ext cx="2377440" cy="521207"/>
          </a:xfrm>
          <a:prstGeom prst="rect">
            <a:avLst/>
          </a:prstGeom>
          <a:solidFill>
            <a:srgbClr val="FFFFFF"/>
          </a:solidFill>
          <a:ln w="8890">
            <a:solidFill>
              <a:srgbClr val="D6E4F0"/>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080" b="0">
                <a:solidFill>
                  <a:srgbClr val="44546A"/>
                </a:solidFill>
                <a:latin typeface="Calibri"/>
              </a:rPr>
              <a:t>new search unless asked</a:t>
            </a:r>
          </a:p>
        </p:txBody>
      </p:sp>
      <p:sp>
        <p:nvSpPr>
          <p:cNvPr id="28" name="Rectangle 27"/>
          <p:cNvSpPr/>
          <p:nvPr/>
        </p:nvSpPr>
        <p:spPr>
          <a:xfrm>
            <a:off x="8287245" y="4326702"/>
            <a:ext cx="3017520" cy="521207"/>
          </a:xfrm>
          <a:prstGeom prst="rect">
            <a:avLst/>
          </a:prstGeom>
          <a:solidFill>
            <a:srgbClr val="FFFFFF"/>
          </a:solidFill>
          <a:ln w="8890">
            <a:solidFill>
              <a:srgbClr val="D6E4F0"/>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080" b="0">
                <a:solidFill>
                  <a:srgbClr val="44546A"/>
                </a:solidFill>
                <a:latin typeface="Calibri"/>
              </a:rPr>
              <a:t>issues + revisions</a:t>
            </a:r>
          </a:p>
        </p:txBody>
      </p:sp>
      <p:sp>
        <p:nvSpPr>
          <p:cNvPr id="29" name="Rounded Rectangle 28"/>
          <p:cNvSpPr/>
          <p:nvPr/>
        </p:nvSpPr>
        <p:spPr>
          <a:xfrm>
            <a:off x="958131" y="5248656"/>
            <a:ext cx="10287000" cy="457200"/>
          </a:xfrm>
          <a:prstGeom prst="roundRect">
            <a:avLst/>
          </a:prstGeom>
          <a:solidFill>
            <a:srgbClr val="D6E4F0"/>
          </a:solidFill>
          <a:ln w="15240">
            <a:solidFill>
              <a:srgbClr val="D6E4F0"/>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450" b="1" dirty="0">
                <a:solidFill>
                  <a:srgbClr val="161A3E"/>
                </a:solidFill>
                <a:latin typeface="Calibri"/>
              </a:rPr>
              <a:t>Rule of thumb: if two agents can change the same decision independently, the architecture will drift.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76656" y="603504"/>
            <a:ext cx="10835640" cy="612648"/>
          </a:xfrm>
          <a:prstGeom prst="rect">
            <a:avLst/>
          </a:prstGeom>
          <a:noFill/>
        </p:spPr>
        <p:txBody>
          <a:bodyPr wrap="square" tIns="54864" bIns="54864">
            <a:noAutofit/>
          </a:bodyPr>
          <a:lstStyle/>
          <a:p>
            <a:pPr algn="l">
              <a:lnSpc>
                <a:spcPct val="100000"/>
              </a:lnSpc>
            </a:pPr>
            <a:r>
              <a:rPr sz="3100" b="1">
                <a:solidFill>
                  <a:srgbClr val="161A3E"/>
                </a:solidFill>
                <a:latin typeface="Calibri"/>
              </a:rPr>
              <a:t>Tooling strategy: mock first, live later</a:t>
            </a: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555480" y="1143000"/>
            <a:ext cx="1947672" cy="292608"/>
          </a:xfrm>
          <a:prstGeom prst="round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000" b="1">
                <a:solidFill>
                  <a:srgbClr val="44546A"/>
                </a:solidFill>
                <a:latin typeface="Calibri"/>
              </a:rPr>
              <a:t>Tool selection</a:t>
            </a:r>
          </a:p>
        </p:txBody>
      </p:sp>
      <p:sp>
        <p:nvSpPr>
          <p:cNvPr id="5" name="Rounded Rectangle 4"/>
          <p:cNvSpPr/>
          <p:nvPr/>
        </p:nvSpPr>
        <p:spPr>
          <a:xfrm>
            <a:off x="769686" y="2254197"/>
            <a:ext cx="3246120" cy="2304287"/>
          </a:xfrm>
          <a:prstGeom prst="roundRect">
            <a:avLst/>
          </a:prstGeom>
          <a:solidFill>
            <a:srgbClr val="FFFFFF"/>
          </a:solidFill>
          <a:ln w="15240">
            <a:solidFill>
              <a:srgbClr val="161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69686" y="2235906"/>
            <a:ext cx="3246120" cy="402336"/>
          </a:xfrm>
          <a:prstGeom prst="roundRect">
            <a:avLst/>
          </a:prstGeom>
          <a:solidFill>
            <a:srgbClr val="161A3E"/>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400" b="1">
                <a:solidFill>
                  <a:srgbClr val="FFFFFF"/>
                </a:solidFill>
                <a:latin typeface="Calibri"/>
              </a:rPr>
              <a:t>Mocked travel data</a:t>
            </a:r>
          </a:p>
        </p:txBody>
      </p:sp>
      <p:sp>
        <p:nvSpPr>
          <p:cNvPr id="7" name="TextBox 6"/>
          <p:cNvSpPr txBox="1"/>
          <p:nvPr/>
        </p:nvSpPr>
        <p:spPr>
          <a:xfrm>
            <a:off x="815406" y="2813175"/>
            <a:ext cx="3154679" cy="1618487"/>
          </a:xfrm>
          <a:prstGeom prst="rect">
            <a:avLst/>
          </a:prstGeom>
          <a:noFill/>
        </p:spPr>
        <p:txBody>
          <a:bodyPr wrap="square" tIns="54864" bIns="54864">
            <a:noAutofit/>
          </a:bodyPr>
          <a:lstStyle/>
          <a:p>
            <a:pPr algn="l">
              <a:lnSpc>
                <a:spcPct val="100000"/>
              </a:lnSpc>
            </a:pPr>
            <a:r>
              <a:rPr sz="1400" b="0" dirty="0">
                <a:solidFill>
                  <a:srgbClr val="161A3E"/>
                </a:solidFill>
                <a:latin typeface="Calibri"/>
              </a:rPr>
              <a:t>Best for this sprint.</a:t>
            </a:r>
          </a:p>
          <a:p>
            <a:pPr algn="l">
              <a:lnSpc>
                <a:spcPct val="100000"/>
              </a:lnSpc>
            </a:pPr>
            <a:endParaRPr sz="1400" b="0" dirty="0">
              <a:solidFill>
                <a:srgbClr val="161A3E"/>
              </a:solidFill>
              <a:latin typeface="Calibri"/>
            </a:endParaRPr>
          </a:p>
          <a:p>
            <a:pPr algn="l">
              <a:lnSpc>
                <a:spcPct val="100000"/>
              </a:lnSpc>
            </a:pPr>
            <a:r>
              <a:rPr sz="1400" b="0" dirty="0">
                <a:solidFill>
                  <a:srgbClr val="161A3E"/>
                </a:solidFill>
                <a:latin typeface="Calibri"/>
              </a:rPr>
              <a:t>• reliable in class</a:t>
            </a:r>
          </a:p>
          <a:p>
            <a:pPr algn="l">
              <a:lnSpc>
                <a:spcPct val="100000"/>
              </a:lnSpc>
            </a:pPr>
            <a:r>
              <a:rPr sz="1400" b="0" dirty="0">
                <a:solidFill>
                  <a:srgbClr val="161A3E"/>
                </a:solidFill>
                <a:latin typeface="Calibri"/>
              </a:rPr>
              <a:t>• no API signup</a:t>
            </a:r>
          </a:p>
          <a:p>
            <a:pPr algn="l">
              <a:lnSpc>
                <a:spcPct val="100000"/>
              </a:lnSpc>
            </a:pPr>
            <a:r>
              <a:rPr sz="1400" b="0" dirty="0">
                <a:solidFill>
                  <a:srgbClr val="161A3E"/>
                </a:solidFill>
                <a:latin typeface="Calibri"/>
              </a:rPr>
              <a:t>• predictable outputs</a:t>
            </a:r>
          </a:p>
          <a:p>
            <a:pPr algn="l">
              <a:lnSpc>
                <a:spcPct val="100000"/>
              </a:lnSpc>
            </a:pPr>
            <a:r>
              <a:rPr sz="1400" b="0" dirty="0">
                <a:solidFill>
                  <a:srgbClr val="161A3E"/>
                </a:solidFill>
                <a:latin typeface="Calibri"/>
              </a:rPr>
              <a:t>• easy to debug</a:t>
            </a:r>
          </a:p>
        </p:txBody>
      </p:sp>
      <p:sp>
        <p:nvSpPr>
          <p:cNvPr id="8" name="Rounded Rectangle 7"/>
          <p:cNvSpPr/>
          <p:nvPr/>
        </p:nvSpPr>
        <p:spPr>
          <a:xfrm>
            <a:off x="4463862" y="2254197"/>
            <a:ext cx="3246120" cy="2304287"/>
          </a:xfrm>
          <a:prstGeom prst="roundRect">
            <a:avLst/>
          </a:prstGeom>
          <a:solidFill>
            <a:srgbClr val="FFFFFF"/>
          </a:solidFill>
          <a:ln w="1524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463862" y="2235906"/>
            <a:ext cx="3246120" cy="402336"/>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400" b="1">
                <a:solidFill>
                  <a:srgbClr val="FFFFFF"/>
                </a:solidFill>
                <a:latin typeface="Calibri"/>
              </a:rPr>
              <a:t>Live travel APIs</a:t>
            </a:r>
          </a:p>
        </p:txBody>
      </p:sp>
      <p:sp>
        <p:nvSpPr>
          <p:cNvPr id="10" name="TextBox 9"/>
          <p:cNvSpPr txBox="1"/>
          <p:nvPr/>
        </p:nvSpPr>
        <p:spPr>
          <a:xfrm>
            <a:off x="4509582" y="2813175"/>
            <a:ext cx="3154679" cy="1618487"/>
          </a:xfrm>
          <a:prstGeom prst="rect">
            <a:avLst/>
          </a:prstGeom>
          <a:noFill/>
        </p:spPr>
        <p:txBody>
          <a:bodyPr wrap="square" tIns="54864" bIns="54864">
            <a:noAutofit/>
          </a:bodyPr>
          <a:lstStyle/>
          <a:p>
            <a:pPr algn="l">
              <a:lnSpc>
                <a:spcPct val="100000"/>
              </a:lnSpc>
            </a:pPr>
            <a:r>
              <a:rPr sz="1400" b="0">
                <a:solidFill>
                  <a:srgbClr val="161A3E"/>
                </a:solidFill>
                <a:latin typeface="Calibri"/>
              </a:rPr>
              <a:t>Good extension.</a:t>
            </a:r>
          </a:p>
          <a:p>
            <a:pPr algn="l">
              <a:lnSpc>
                <a:spcPct val="100000"/>
              </a:lnSpc>
            </a:pPr>
            <a:endParaRPr sz="1400" b="0">
              <a:solidFill>
                <a:srgbClr val="161A3E"/>
              </a:solidFill>
              <a:latin typeface="Calibri"/>
            </a:endParaRPr>
          </a:p>
          <a:p>
            <a:pPr algn="l">
              <a:lnSpc>
                <a:spcPct val="100000"/>
              </a:lnSpc>
            </a:pPr>
            <a:r>
              <a:rPr sz="1400" b="0">
                <a:solidFill>
                  <a:srgbClr val="161A3E"/>
                </a:solidFill>
                <a:latin typeface="Calibri"/>
              </a:rPr>
              <a:t>• realistic availability</a:t>
            </a:r>
          </a:p>
          <a:p>
            <a:pPr algn="l">
              <a:lnSpc>
                <a:spcPct val="100000"/>
              </a:lnSpc>
            </a:pPr>
            <a:r>
              <a:rPr sz="1400" b="0">
                <a:solidFill>
                  <a:srgbClr val="161A3E"/>
                </a:solidFill>
                <a:latin typeface="Calibri"/>
              </a:rPr>
              <a:t>• more edge cases</a:t>
            </a:r>
          </a:p>
          <a:p>
            <a:pPr algn="l">
              <a:lnSpc>
                <a:spcPct val="100000"/>
              </a:lnSpc>
            </a:pPr>
            <a:r>
              <a:rPr sz="1400" b="0">
                <a:solidFill>
                  <a:srgbClr val="161A3E"/>
                </a:solidFill>
                <a:latin typeface="Calibri"/>
              </a:rPr>
              <a:t>• higher setup friction</a:t>
            </a:r>
          </a:p>
          <a:p>
            <a:pPr algn="l">
              <a:lnSpc>
                <a:spcPct val="100000"/>
              </a:lnSpc>
            </a:pPr>
            <a:r>
              <a:rPr sz="1400" b="0">
                <a:solidFill>
                  <a:srgbClr val="161A3E"/>
                </a:solidFill>
                <a:latin typeface="Calibri"/>
              </a:rPr>
              <a:t>• may break during demo</a:t>
            </a:r>
          </a:p>
        </p:txBody>
      </p:sp>
      <p:sp>
        <p:nvSpPr>
          <p:cNvPr id="11" name="Rounded Rectangle 10"/>
          <p:cNvSpPr/>
          <p:nvPr/>
        </p:nvSpPr>
        <p:spPr>
          <a:xfrm>
            <a:off x="8158038" y="2254197"/>
            <a:ext cx="3246120" cy="2304287"/>
          </a:xfrm>
          <a:prstGeom prst="roundRect">
            <a:avLst/>
          </a:prstGeom>
          <a:solidFill>
            <a:srgbClr val="FFFFFF"/>
          </a:solidFill>
          <a:ln w="15240">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8158038" y="2235906"/>
            <a:ext cx="3246120" cy="402336"/>
          </a:xfrm>
          <a:prstGeom prst="round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400" b="1">
                <a:solidFill>
                  <a:srgbClr val="FFFFFF"/>
                </a:solidFill>
                <a:latin typeface="Calibri"/>
              </a:rPr>
              <a:t>LLM-only planning</a:t>
            </a:r>
          </a:p>
        </p:txBody>
      </p:sp>
      <p:sp>
        <p:nvSpPr>
          <p:cNvPr id="13" name="TextBox 12"/>
          <p:cNvSpPr txBox="1"/>
          <p:nvPr/>
        </p:nvSpPr>
        <p:spPr>
          <a:xfrm>
            <a:off x="8203758" y="2813175"/>
            <a:ext cx="3154679" cy="1618487"/>
          </a:xfrm>
          <a:prstGeom prst="rect">
            <a:avLst/>
          </a:prstGeom>
          <a:noFill/>
        </p:spPr>
        <p:txBody>
          <a:bodyPr wrap="square" tIns="54864" bIns="54864">
            <a:noAutofit/>
          </a:bodyPr>
          <a:lstStyle/>
          <a:p>
            <a:pPr algn="l">
              <a:lnSpc>
                <a:spcPct val="100000"/>
              </a:lnSpc>
            </a:pPr>
            <a:r>
              <a:rPr sz="1400" b="0">
                <a:solidFill>
                  <a:srgbClr val="161A3E"/>
                </a:solidFill>
                <a:latin typeface="Calibri"/>
              </a:rPr>
              <a:t>Useful baseline.</a:t>
            </a:r>
          </a:p>
          <a:p>
            <a:pPr algn="l">
              <a:lnSpc>
                <a:spcPct val="100000"/>
              </a:lnSpc>
            </a:pPr>
            <a:endParaRPr sz="1400" b="0">
              <a:solidFill>
                <a:srgbClr val="161A3E"/>
              </a:solidFill>
              <a:latin typeface="Calibri"/>
            </a:endParaRPr>
          </a:p>
          <a:p>
            <a:pPr algn="l">
              <a:lnSpc>
                <a:spcPct val="100000"/>
              </a:lnSpc>
            </a:pPr>
            <a:r>
              <a:rPr sz="1400" b="0">
                <a:solidFill>
                  <a:srgbClr val="161A3E"/>
                </a:solidFill>
                <a:latin typeface="Calibri"/>
              </a:rPr>
              <a:t>• fast to show</a:t>
            </a:r>
          </a:p>
          <a:p>
            <a:pPr algn="l">
              <a:lnSpc>
                <a:spcPct val="100000"/>
              </a:lnSpc>
            </a:pPr>
            <a:r>
              <a:rPr sz="1400" b="0">
                <a:solidFill>
                  <a:srgbClr val="161A3E"/>
                </a:solidFill>
                <a:latin typeface="Calibri"/>
              </a:rPr>
              <a:t>• no real grounding</a:t>
            </a:r>
          </a:p>
          <a:p>
            <a:pPr algn="l">
              <a:lnSpc>
                <a:spcPct val="100000"/>
              </a:lnSpc>
            </a:pPr>
            <a:r>
              <a:rPr sz="1400" b="0">
                <a:solidFill>
                  <a:srgbClr val="161A3E"/>
                </a:solidFill>
                <a:latin typeface="Calibri"/>
              </a:rPr>
              <a:t>• hard to verify</a:t>
            </a:r>
          </a:p>
          <a:p>
            <a:pPr algn="l">
              <a:lnSpc>
                <a:spcPct val="100000"/>
              </a:lnSpc>
            </a:pPr>
            <a:r>
              <a:rPr sz="1400" b="0">
                <a:solidFill>
                  <a:srgbClr val="161A3E"/>
                </a:solidFill>
                <a:latin typeface="Calibri"/>
              </a:rPr>
              <a:t>• risky for final output</a:t>
            </a:r>
          </a:p>
        </p:txBody>
      </p:sp>
      <p:sp>
        <p:nvSpPr>
          <p:cNvPr id="14" name="Rounded Rectangle 13"/>
          <p:cNvSpPr/>
          <p:nvPr/>
        </p:nvSpPr>
        <p:spPr>
          <a:xfrm>
            <a:off x="1117158" y="5086848"/>
            <a:ext cx="9966960" cy="438912"/>
          </a:xfrm>
          <a:prstGeom prst="roundRect">
            <a:avLst/>
          </a:prstGeom>
          <a:solidFill>
            <a:srgbClr val="D6E4F0"/>
          </a:solidFill>
          <a:ln w="15240">
            <a:solidFill>
              <a:srgbClr val="D6E4F0"/>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450" b="1" dirty="0">
                <a:solidFill>
                  <a:srgbClr val="161A3E"/>
                </a:solidFill>
                <a:latin typeface="Calibri"/>
              </a:rPr>
              <a:t>Teaching choice: use local data so the class studies reasoning and orchestration, not vendor setup.</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76656" y="603504"/>
            <a:ext cx="10835640" cy="612648"/>
          </a:xfrm>
          <a:prstGeom prst="rect">
            <a:avLst/>
          </a:prstGeom>
          <a:noFill/>
        </p:spPr>
        <p:txBody>
          <a:bodyPr wrap="square" tIns="54864" bIns="54864">
            <a:noAutofit/>
          </a:bodyPr>
          <a:lstStyle/>
          <a:p>
            <a:pPr algn="l">
              <a:lnSpc>
                <a:spcPct val="100000"/>
              </a:lnSpc>
            </a:pPr>
            <a:r>
              <a:rPr sz="3100" b="1">
                <a:solidFill>
                  <a:srgbClr val="161A3E"/>
                </a:solidFill>
                <a:latin typeface="Calibri"/>
              </a:rPr>
              <a:t>Prompt contracts make agents composable</a:t>
            </a: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555480" y="1143000"/>
            <a:ext cx="1947672" cy="292608"/>
          </a:xfrm>
          <a:prstGeom prst="round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000" b="1">
                <a:solidFill>
                  <a:srgbClr val="44546A"/>
                </a:solidFill>
                <a:latin typeface="Calibri"/>
              </a:rPr>
              <a:t>Structured prompting</a:t>
            </a:r>
          </a:p>
        </p:txBody>
      </p:sp>
      <p:sp>
        <p:nvSpPr>
          <p:cNvPr id="5" name="Rounded Rectangle 4"/>
          <p:cNvSpPr/>
          <p:nvPr/>
        </p:nvSpPr>
        <p:spPr>
          <a:xfrm>
            <a:off x="749808" y="1847088"/>
            <a:ext cx="4251960" cy="3474720"/>
          </a:xfrm>
          <a:prstGeom prst="roundRect">
            <a:avLst/>
          </a:prstGeom>
          <a:solidFill>
            <a:srgbClr val="FFFFFF"/>
          </a:solidFill>
          <a:ln w="1524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32688" y="1993392"/>
            <a:ext cx="3886200" cy="320040"/>
          </a:xfrm>
          <a:prstGeom prst="rect">
            <a:avLst/>
          </a:prstGeom>
          <a:noFill/>
        </p:spPr>
        <p:txBody>
          <a:bodyPr wrap="square" tIns="54864" bIns="54864">
            <a:noAutofit/>
          </a:bodyPr>
          <a:lstStyle/>
          <a:p>
            <a:pPr algn="l">
              <a:lnSpc>
                <a:spcPct val="100000"/>
              </a:lnSpc>
            </a:pPr>
            <a:r>
              <a:rPr sz="1700" b="1">
                <a:solidFill>
                  <a:srgbClr val="161A3E"/>
                </a:solidFill>
                <a:latin typeface="Calibri"/>
              </a:rPr>
              <a:t>A contract says:</a:t>
            </a:r>
          </a:p>
        </p:txBody>
      </p:sp>
      <p:sp>
        <p:nvSpPr>
          <p:cNvPr id="7" name="Oval 6"/>
          <p:cNvSpPr/>
          <p:nvPr/>
        </p:nvSpPr>
        <p:spPr>
          <a:xfrm>
            <a:off x="960120" y="2523744"/>
            <a:ext cx="91440" cy="9144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4712" y="2468880"/>
            <a:ext cx="3584447" cy="274320"/>
          </a:xfrm>
          <a:prstGeom prst="rect">
            <a:avLst/>
          </a:prstGeom>
          <a:noFill/>
        </p:spPr>
        <p:txBody>
          <a:bodyPr wrap="square" tIns="54864" bIns="54864">
            <a:noAutofit/>
          </a:bodyPr>
          <a:lstStyle/>
          <a:p>
            <a:pPr algn="l">
              <a:lnSpc>
                <a:spcPct val="100000"/>
              </a:lnSpc>
            </a:pPr>
            <a:r>
              <a:rPr sz="1340" b="0">
                <a:solidFill>
                  <a:srgbClr val="161A3E"/>
                </a:solidFill>
                <a:latin typeface="Calibri"/>
              </a:rPr>
              <a:t>what the agent receives</a:t>
            </a:r>
          </a:p>
        </p:txBody>
      </p:sp>
      <p:sp>
        <p:nvSpPr>
          <p:cNvPr id="9" name="Oval 8"/>
          <p:cNvSpPr/>
          <p:nvPr/>
        </p:nvSpPr>
        <p:spPr>
          <a:xfrm>
            <a:off x="960120" y="2871216"/>
            <a:ext cx="91440" cy="9144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24712" y="2816352"/>
            <a:ext cx="3584447" cy="274320"/>
          </a:xfrm>
          <a:prstGeom prst="rect">
            <a:avLst/>
          </a:prstGeom>
          <a:noFill/>
        </p:spPr>
        <p:txBody>
          <a:bodyPr wrap="square" tIns="54864" bIns="54864">
            <a:noAutofit/>
          </a:bodyPr>
          <a:lstStyle/>
          <a:p>
            <a:pPr algn="l">
              <a:lnSpc>
                <a:spcPct val="100000"/>
              </a:lnSpc>
            </a:pPr>
            <a:r>
              <a:rPr sz="1340" b="0">
                <a:solidFill>
                  <a:srgbClr val="161A3E"/>
                </a:solidFill>
                <a:latin typeface="Calibri"/>
              </a:rPr>
              <a:t>what it is allowed to decide</a:t>
            </a:r>
          </a:p>
        </p:txBody>
      </p:sp>
      <p:sp>
        <p:nvSpPr>
          <p:cNvPr id="11" name="Oval 10"/>
          <p:cNvSpPr/>
          <p:nvPr/>
        </p:nvSpPr>
        <p:spPr>
          <a:xfrm>
            <a:off x="960120" y="3218688"/>
            <a:ext cx="91440" cy="9144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24712" y="3163824"/>
            <a:ext cx="3584447" cy="274320"/>
          </a:xfrm>
          <a:prstGeom prst="rect">
            <a:avLst/>
          </a:prstGeom>
          <a:noFill/>
        </p:spPr>
        <p:txBody>
          <a:bodyPr wrap="square" tIns="54864" bIns="54864">
            <a:noAutofit/>
          </a:bodyPr>
          <a:lstStyle/>
          <a:p>
            <a:pPr algn="l">
              <a:lnSpc>
                <a:spcPct val="100000"/>
              </a:lnSpc>
            </a:pPr>
            <a:r>
              <a:rPr sz="1340" b="0">
                <a:solidFill>
                  <a:srgbClr val="161A3E"/>
                </a:solidFill>
                <a:latin typeface="Calibri"/>
              </a:rPr>
              <a:t>which tool output it must use</a:t>
            </a:r>
          </a:p>
        </p:txBody>
      </p:sp>
      <p:sp>
        <p:nvSpPr>
          <p:cNvPr id="13" name="Oval 12"/>
          <p:cNvSpPr/>
          <p:nvPr/>
        </p:nvSpPr>
        <p:spPr>
          <a:xfrm>
            <a:off x="960120" y="3566160"/>
            <a:ext cx="91440" cy="9144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24712" y="3511296"/>
            <a:ext cx="3584447" cy="274320"/>
          </a:xfrm>
          <a:prstGeom prst="rect">
            <a:avLst/>
          </a:prstGeom>
          <a:noFill/>
        </p:spPr>
        <p:txBody>
          <a:bodyPr wrap="square" tIns="54864" bIns="54864">
            <a:noAutofit/>
          </a:bodyPr>
          <a:lstStyle/>
          <a:p>
            <a:pPr algn="l">
              <a:lnSpc>
                <a:spcPct val="100000"/>
              </a:lnSpc>
            </a:pPr>
            <a:r>
              <a:rPr sz="1340" b="0">
                <a:solidFill>
                  <a:srgbClr val="161A3E"/>
                </a:solidFill>
                <a:latin typeface="Calibri"/>
              </a:rPr>
              <a:t>what exact shape it must return</a:t>
            </a:r>
          </a:p>
        </p:txBody>
      </p:sp>
      <p:sp>
        <p:nvSpPr>
          <p:cNvPr id="15" name="Oval 14"/>
          <p:cNvSpPr/>
          <p:nvPr/>
        </p:nvSpPr>
        <p:spPr>
          <a:xfrm>
            <a:off x="960120" y="3913631"/>
            <a:ext cx="91440" cy="9144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24712" y="3858768"/>
            <a:ext cx="3584447" cy="274320"/>
          </a:xfrm>
          <a:prstGeom prst="rect">
            <a:avLst/>
          </a:prstGeom>
          <a:noFill/>
        </p:spPr>
        <p:txBody>
          <a:bodyPr wrap="square" tIns="54864" bIns="54864">
            <a:noAutofit/>
          </a:bodyPr>
          <a:lstStyle/>
          <a:p>
            <a:pPr algn="l">
              <a:lnSpc>
                <a:spcPct val="100000"/>
              </a:lnSpc>
            </a:pPr>
            <a:r>
              <a:rPr sz="1340" b="0">
                <a:solidFill>
                  <a:srgbClr val="161A3E"/>
                </a:solidFill>
                <a:latin typeface="Calibri"/>
              </a:rPr>
              <a:t>how uncertainty should be expressed</a:t>
            </a:r>
          </a:p>
        </p:txBody>
      </p:sp>
      <p:sp>
        <p:nvSpPr>
          <p:cNvPr id="17" name="Rounded Rectangle 16"/>
          <p:cNvSpPr/>
          <p:nvPr/>
        </p:nvSpPr>
        <p:spPr>
          <a:xfrm>
            <a:off x="5669280" y="1755648"/>
            <a:ext cx="5303520" cy="3291840"/>
          </a:xfrm>
          <a:prstGeom prst="roundRect">
            <a:avLst/>
          </a:prstGeom>
          <a:solidFill>
            <a:srgbClr val="161A3E"/>
          </a:solidFill>
          <a:ln w="15240">
            <a:solidFill>
              <a:srgbClr val="161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742432" y="1993392"/>
            <a:ext cx="5157216" cy="2980944"/>
          </a:xfrm>
          <a:prstGeom prst="rect">
            <a:avLst/>
          </a:prstGeom>
          <a:noFill/>
        </p:spPr>
        <p:txBody>
          <a:bodyPr wrap="square" tIns="54864" bIns="54864">
            <a:noAutofit/>
          </a:bodyPr>
          <a:lstStyle/>
          <a:p>
            <a:pPr algn="l">
              <a:lnSpc>
                <a:spcPct val="100000"/>
              </a:lnSpc>
            </a:pPr>
            <a:r>
              <a:rPr sz="1200" b="0" dirty="0">
                <a:solidFill>
                  <a:srgbClr val="FFFFFF"/>
                </a:solidFill>
                <a:latin typeface="Consolas"/>
              </a:rPr>
              <a:t>{</a:t>
            </a:r>
          </a:p>
          <a:p>
            <a:pPr algn="l">
              <a:lnSpc>
                <a:spcPct val="100000"/>
              </a:lnSpc>
            </a:pPr>
            <a:r>
              <a:rPr sz="1200" b="0" dirty="0">
                <a:solidFill>
                  <a:srgbClr val="FFFFFF"/>
                </a:solidFill>
                <a:latin typeface="Consolas"/>
              </a:rPr>
              <a:t>  "agent": "</a:t>
            </a:r>
            <a:r>
              <a:rPr sz="1200" b="0" dirty="0" err="1">
                <a:solidFill>
                  <a:srgbClr val="FFFFFF"/>
                </a:solidFill>
                <a:latin typeface="Consolas"/>
              </a:rPr>
              <a:t>hotel_worker</a:t>
            </a:r>
            <a:r>
              <a:rPr sz="1200" b="0" dirty="0">
                <a:solidFill>
                  <a:srgbClr val="FFFFFF"/>
                </a:solidFill>
                <a:latin typeface="Consolas"/>
              </a:rPr>
              <a:t>",</a:t>
            </a:r>
          </a:p>
          <a:p>
            <a:pPr algn="l">
              <a:lnSpc>
                <a:spcPct val="100000"/>
              </a:lnSpc>
            </a:pPr>
            <a:r>
              <a:rPr sz="1200" b="0" dirty="0">
                <a:solidFill>
                  <a:srgbClr val="FFFFFF"/>
                </a:solidFill>
                <a:latin typeface="Consolas"/>
              </a:rPr>
              <a:t>  "input": {</a:t>
            </a:r>
          </a:p>
          <a:p>
            <a:pPr algn="l">
              <a:lnSpc>
                <a:spcPct val="100000"/>
              </a:lnSpc>
            </a:pPr>
            <a:r>
              <a:rPr sz="1200" b="0" dirty="0">
                <a:solidFill>
                  <a:srgbClr val="FFFFFF"/>
                </a:solidFill>
                <a:latin typeface="Consolas"/>
              </a:rPr>
              <a:t>    "destination": "...",</a:t>
            </a:r>
          </a:p>
          <a:p>
            <a:pPr algn="l">
              <a:lnSpc>
                <a:spcPct val="100000"/>
              </a:lnSpc>
            </a:pPr>
            <a:r>
              <a:rPr sz="1200" b="0" dirty="0">
                <a:solidFill>
                  <a:srgbClr val="FFFFFF"/>
                </a:solidFill>
                <a:latin typeface="Consolas"/>
              </a:rPr>
              <a:t>    "</a:t>
            </a:r>
            <a:r>
              <a:rPr sz="1200" b="0" dirty="0" err="1">
                <a:solidFill>
                  <a:srgbClr val="FFFFFF"/>
                </a:solidFill>
                <a:latin typeface="Consolas"/>
              </a:rPr>
              <a:t>budget_limit</a:t>
            </a:r>
            <a:r>
              <a:rPr sz="1200" b="0" dirty="0">
                <a:solidFill>
                  <a:srgbClr val="FFFFFF"/>
                </a:solidFill>
                <a:latin typeface="Consolas"/>
              </a:rPr>
              <a:t>": "...",</a:t>
            </a:r>
          </a:p>
          <a:p>
            <a:pPr algn="l">
              <a:lnSpc>
                <a:spcPct val="100000"/>
              </a:lnSpc>
            </a:pPr>
            <a:r>
              <a:rPr sz="1200" b="0" dirty="0">
                <a:solidFill>
                  <a:srgbClr val="FFFFFF"/>
                </a:solidFill>
                <a:latin typeface="Consolas"/>
              </a:rPr>
              <a:t>    "preferences": ["..."]</a:t>
            </a:r>
          </a:p>
          <a:p>
            <a:pPr algn="l">
              <a:lnSpc>
                <a:spcPct val="100000"/>
              </a:lnSpc>
            </a:pPr>
            <a:r>
              <a:rPr sz="1200" b="0" dirty="0">
                <a:solidFill>
                  <a:srgbClr val="FFFFFF"/>
                </a:solidFill>
                <a:latin typeface="Consolas"/>
              </a:rPr>
              <a:t>  },</a:t>
            </a:r>
          </a:p>
          <a:p>
            <a:pPr algn="l">
              <a:lnSpc>
                <a:spcPct val="100000"/>
              </a:lnSpc>
            </a:pPr>
            <a:r>
              <a:rPr sz="1200" b="0" dirty="0">
                <a:solidFill>
                  <a:srgbClr val="FFFFFF"/>
                </a:solidFill>
                <a:latin typeface="Consolas"/>
              </a:rPr>
              <a:t>  "output": {</a:t>
            </a:r>
          </a:p>
          <a:p>
            <a:pPr algn="l">
              <a:lnSpc>
                <a:spcPct val="100000"/>
              </a:lnSpc>
            </a:pPr>
            <a:r>
              <a:rPr sz="1200" b="0" dirty="0">
                <a:solidFill>
                  <a:srgbClr val="FFFFFF"/>
                </a:solidFill>
                <a:latin typeface="Consolas"/>
              </a:rPr>
              <a:t>    "</a:t>
            </a:r>
            <a:r>
              <a:rPr sz="1200" b="0" dirty="0" err="1">
                <a:solidFill>
                  <a:srgbClr val="FFFFFF"/>
                </a:solidFill>
                <a:latin typeface="Consolas"/>
              </a:rPr>
              <a:t>ranked_options</a:t>
            </a:r>
            <a:r>
              <a:rPr sz="1200" b="0" dirty="0">
                <a:solidFill>
                  <a:srgbClr val="FFFFFF"/>
                </a:solidFill>
                <a:latin typeface="Consolas"/>
              </a:rPr>
              <a:t>": [],</a:t>
            </a:r>
          </a:p>
          <a:p>
            <a:pPr algn="l">
              <a:lnSpc>
                <a:spcPct val="100000"/>
              </a:lnSpc>
            </a:pPr>
            <a:r>
              <a:rPr sz="1200" b="0" dirty="0">
                <a:solidFill>
                  <a:srgbClr val="FFFFFF"/>
                </a:solidFill>
                <a:latin typeface="Consolas"/>
              </a:rPr>
              <a:t>    "tradeoffs": [],</a:t>
            </a:r>
          </a:p>
          <a:p>
            <a:pPr algn="l">
              <a:lnSpc>
                <a:spcPct val="100000"/>
              </a:lnSpc>
            </a:pPr>
            <a:r>
              <a:rPr sz="1200" b="0" dirty="0">
                <a:solidFill>
                  <a:srgbClr val="FFFFFF"/>
                </a:solidFill>
                <a:latin typeface="Consolas"/>
              </a:rPr>
              <a:t>    "assumptions": []</a:t>
            </a:r>
          </a:p>
          <a:p>
            <a:pPr algn="l">
              <a:lnSpc>
                <a:spcPct val="100000"/>
              </a:lnSpc>
            </a:pPr>
            <a:r>
              <a:rPr sz="1200" b="0" dirty="0">
                <a:solidFill>
                  <a:srgbClr val="FFFFFF"/>
                </a:solidFill>
                <a:latin typeface="Consolas"/>
              </a:rPr>
              <a:t>  }</a:t>
            </a:r>
          </a:p>
          <a:p>
            <a:pPr algn="l">
              <a:lnSpc>
                <a:spcPct val="100000"/>
              </a:lnSpc>
            </a:pPr>
            <a:r>
              <a:rPr sz="1200" b="0" dirty="0">
                <a:solidFill>
                  <a:srgbClr val="FFFFFF"/>
                </a:solidFill>
                <a:latin typeface="Consolas"/>
              </a:rPr>
              <a:t>}</a:t>
            </a:r>
          </a:p>
        </p:txBody>
      </p:sp>
      <p:sp>
        <p:nvSpPr>
          <p:cNvPr id="19" name="Rounded Rectangle 18"/>
          <p:cNvSpPr/>
          <p:nvPr/>
        </p:nvSpPr>
        <p:spPr>
          <a:xfrm>
            <a:off x="6035040" y="5230368"/>
            <a:ext cx="4572000" cy="384048"/>
          </a:xfrm>
          <a:prstGeom prst="roundRect">
            <a:avLst/>
          </a:prstGeom>
          <a:solidFill>
            <a:srgbClr val="D6E4F0"/>
          </a:solidFill>
          <a:ln w="15240">
            <a:solidFill>
              <a:srgbClr val="D6E4F0"/>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300" b="1">
                <a:solidFill>
                  <a:srgbClr val="161A3E"/>
                </a:solidFill>
                <a:latin typeface="Calibri"/>
              </a:rPr>
              <a:t>The manager can only compose outputs that have predictable shape.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76656" y="603504"/>
            <a:ext cx="10835640" cy="612648"/>
          </a:xfrm>
          <a:prstGeom prst="rect">
            <a:avLst/>
          </a:prstGeom>
          <a:noFill/>
        </p:spPr>
        <p:txBody>
          <a:bodyPr wrap="square" tIns="54864" bIns="54864">
            <a:noAutofit/>
          </a:bodyPr>
          <a:lstStyle/>
          <a:p>
            <a:pPr algn="l">
              <a:lnSpc>
                <a:spcPct val="100000"/>
              </a:lnSpc>
            </a:pPr>
            <a:r>
              <a:rPr sz="3100" b="1">
                <a:solidFill>
                  <a:srgbClr val="161A3E"/>
                </a:solidFill>
                <a:latin typeface="Calibri"/>
              </a:rPr>
              <a:t>ReAct turns a worker from a writer into a tool user</a:t>
            </a: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555480" y="1143000"/>
            <a:ext cx="1947672" cy="292608"/>
          </a:xfrm>
          <a:prstGeom prst="round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000" b="1">
                <a:solidFill>
                  <a:srgbClr val="44546A"/>
                </a:solidFill>
                <a:latin typeface="Calibri"/>
              </a:rPr>
              <a:t>ReAct application</a:t>
            </a:r>
          </a:p>
        </p:txBody>
      </p:sp>
      <p:sp>
        <p:nvSpPr>
          <p:cNvPr id="5" name="Rounded Rectangle 4"/>
          <p:cNvSpPr/>
          <p:nvPr/>
        </p:nvSpPr>
        <p:spPr>
          <a:xfrm>
            <a:off x="1027704" y="2295540"/>
            <a:ext cx="2148840" cy="1097280"/>
          </a:xfrm>
          <a:prstGeom prst="roundRect">
            <a:avLst/>
          </a:prstGeom>
          <a:solidFill>
            <a:srgbClr val="D6E4F0"/>
          </a:solidFill>
          <a:ln w="15240">
            <a:solidFill>
              <a:srgbClr val="4472C4"/>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350" b="1">
                <a:solidFill>
                  <a:srgbClr val="161A3E"/>
                </a:solidFill>
                <a:latin typeface="Calibri"/>
              </a:rPr>
              <a:t>Reason</a:t>
            </a:r>
          </a:p>
          <a:p>
            <a:pPr algn="ctr">
              <a:lnSpc>
                <a:spcPct val="100000"/>
              </a:lnSpc>
            </a:pPr>
            <a:r>
              <a:rPr sz="1350" b="1">
                <a:solidFill>
                  <a:srgbClr val="161A3E"/>
                </a:solidFill>
                <a:latin typeface="Calibri"/>
              </a:rPr>
              <a:t>Which constraint matters now?</a:t>
            </a:r>
          </a:p>
        </p:txBody>
      </p:sp>
      <p:sp>
        <p:nvSpPr>
          <p:cNvPr id="6" name="Right Arrow 5"/>
          <p:cNvSpPr/>
          <p:nvPr/>
        </p:nvSpPr>
        <p:spPr>
          <a:xfrm>
            <a:off x="3249696" y="2661300"/>
            <a:ext cx="292608" cy="301752"/>
          </a:xfrm>
          <a:prstGeom prst="rightArrow">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633744" y="2295540"/>
            <a:ext cx="2148840" cy="1097280"/>
          </a:xfrm>
          <a:prstGeom prst="roundRect">
            <a:avLst/>
          </a:prstGeom>
          <a:solidFill>
            <a:srgbClr val="FFFFFF"/>
          </a:solidFill>
          <a:ln w="15240">
            <a:solidFill>
              <a:srgbClr val="4472C4"/>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350" b="1">
                <a:solidFill>
                  <a:srgbClr val="161A3E"/>
                </a:solidFill>
                <a:latin typeface="Calibri"/>
              </a:rPr>
              <a:t>Act</a:t>
            </a:r>
          </a:p>
          <a:p>
            <a:pPr algn="ctr">
              <a:lnSpc>
                <a:spcPct val="100000"/>
              </a:lnSpc>
            </a:pPr>
            <a:r>
              <a:rPr sz="1350" b="1">
                <a:solidFill>
                  <a:srgbClr val="161A3E"/>
                </a:solidFill>
                <a:latin typeface="Calibri"/>
              </a:rPr>
              <a:t>Call the right travel tool.</a:t>
            </a:r>
          </a:p>
        </p:txBody>
      </p:sp>
      <p:sp>
        <p:nvSpPr>
          <p:cNvPr id="8" name="Right Arrow 7"/>
          <p:cNvSpPr/>
          <p:nvPr/>
        </p:nvSpPr>
        <p:spPr>
          <a:xfrm>
            <a:off x="5855736" y="2661300"/>
            <a:ext cx="292608" cy="301752"/>
          </a:xfrm>
          <a:prstGeom prst="rightArrow">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239784" y="2295540"/>
            <a:ext cx="2148840" cy="1097280"/>
          </a:xfrm>
          <a:prstGeom prst="roundRect">
            <a:avLst/>
          </a:prstGeom>
          <a:solidFill>
            <a:srgbClr val="D6E4F0"/>
          </a:solidFill>
          <a:ln w="15240">
            <a:solidFill>
              <a:srgbClr val="4472C4"/>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350" b="1">
                <a:solidFill>
                  <a:srgbClr val="161A3E"/>
                </a:solidFill>
                <a:latin typeface="Calibri"/>
              </a:rPr>
              <a:t>Observe</a:t>
            </a:r>
          </a:p>
          <a:p>
            <a:pPr algn="ctr">
              <a:lnSpc>
                <a:spcPct val="100000"/>
              </a:lnSpc>
            </a:pPr>
            <a:r>
              <a:rPr sz="1350" b="1">
                <a:solidFill>
                  <a:srgbClr val="161A3E"/>
                </a:solidFill>
                <a:latin typeface="Calibri"/>
              </a:rPr>
              <a:t>Read the returned options.</a:t>
            </a:r>
          </a:p>
        </p:txBody>
      </p:sp>
      <p:sp>
        <p:nvSpPr>
          <p:cNvPr id="10" name="Right Arrow 9"/>
          <p:cNvSpPr/>
          <p:nvPr/>
        </p:nvSpPr>
        <p:spPr>
          <a:xfrm>
            <a:off x="8461776" y="2661300"/>
            <a:ext cx="292608" cy="301752"/>
          </a:xfrm>
          <a:prstGeom prst="rightArrow">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845824" y="2295540"/>
            <a:ext cx="2148840" cy="1097280"/>
          </a:xfrm>
          <a:prstGeom prst="roundRect">
            <a:avLst/>
          </a:prstGeom>
          <a:solidFill>
            <a:srgbClr val="FFFFFF"/>
          </a:solidFill>
          <a:ln w="15240">
            <a:solidFill>
              <a:srgbClr val="4472C4"/>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350" b="1">
                <a:solidFill>
                  <a:srgbClr val="161A3E"/>
                </a:solidFill>
                <a:latin typeface="Calibri"/>
              </a:rPr>
              <a:t>Decide</a:t>
            </a:r>
          </a:p>
          <a:p>
            <a:pPr algn="ctr">
              <a:lnSpc>
                <a:spcPct val="100000"/>
              </a:lnSpc>
            </a:pPr>
            <a:r>
              <a:rPr sz="1350" b="1">
                <a:solidFill>
                  <a:srgbClr val="161A3E"/>
                </a:solidFill>
                <a:latin typeface="Calibri"/>
              </a:rPr>
              <a:t>Rank and explain trade-offs.</a:t>
            </a:r>
          </a:p>
        </p:txBody>
      </p:sp>
      <p:sp>
        <p:nvSpPr>
          <p:cNvPr id="12" name="Rounded Rectangle 11"/>
          <p:cNvSpPr/>
          <p:nvPr/>
        </p:nvSpPr>
        <p:spPr>
          <a:xfrm>
            <a:off x="1091316" y="4160520"/>
            <a:ext cx="10012680" cy="960120"/>
          </a:xfrm>
          <a:prstGeom prst="roundRect">
            <a:avLst/>
          </a:prstGeom>
          <a:solidFill>
            <a:srgbClr val="161A3E"/>
          </a:solidFill>
          <a:ln w="15240">
            <a:solidFill>
              <a:srgbClr val="161A3E"/>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600" b="1" dirty="0">
                <a:solidFill>
                  <a:srgbClr val="FFFFFF"/>
                </a:solidFill>
                <a:latin typeface="Calibri"/>
              </a:rPr>
              <a:t>Example: </a:t>
            </a:r>
            <a:br>
              <a:rPr lang="en-US" sz="1600" b="1" dirty="0">
                <a:solidFill>
                  <a:srgbClr val="FFFFFF"/>
                </a:solidFill>
                <a:latin typeface="Calibri"/>
              </a:rPr>
            </a:br>
            <a:r>
              <a:rPr sz="1600" b="1" dirty="0">
                <a:solidFill>
                  <a:srgbClr val="FFFFFF"/>
                </a:solidFill>
                <a:latin typeface="Calibri"/>
              </a:rPr>
              <a:t>“Avoid red-eye flights” → search flight options → reject overnight departures → explain the trade-off against price.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76656" y="603504"/>
            <a:ext cx="10835640" cy="612648"/>
          </a:xfrm>
          <a:prstGeom prst="rect">
            <a:avLst/>
          </a:prstGeom>
          <a:noFill/>
        </p:spPr>
        <p:txBody>
          <a:bodyPr wrap="square" tIns="54864" bIns="54864">
            <a:noAutofit/>
          </a:bodyPr>
          <a:lstStyle/>
          <a:p>
            <a:pPr algn="l">
              <a:lnSpc>
                <a:spcPct val="100000"/>
              </a:lnSpc>
            </a:pPr>
            <a:r>
              <a:rPr sz="2800" b="1" dirty="0" err="1">
                <a:solidFill>
                  <a:srgbClr val="161A3E"/>
                </a:solidFill>
                <a:latin typeface="Calibri"/>
              </a:rPr>
              <a:t>Reflexion</a:t>
            </a:r>
            <a:r>
              <a:rPr sz="2800" b="1" dirty="0">
                <a:solidFill>
                  <a:srgbClr val="161A3E"/>
                </a:solidFill>
                <a:latin typeface="Calibri"/>
              </a:rPr>
              <a:t> gives the itinerary a second pass before it reaches the user</a:t>
            </a: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555480" y="1143000"/>
            <a:ext cx="1947672" cy="292608"/>
          </a:xfrm>
          <a:prstGeom prst="round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000" b="1">
                <a:solidFill>
                  <a:srgbClr val="44546A"/>
                </a:solidFill>
                <a:latin typeface="Calibri"/>
              </a:rPr>
              <a:t>Quality loop</a:t>
            </a:r>
          </a:p>
        </p:txBody>
      </p:sp>
      <p:sp>
        <p:nvSpPr>
          <p:cNvPr id="5" name="Rounded Rectangle 4"/>
          <p:cNvSpPr/>
          <p:nvPr/>
        </p:nvSpPr>
        <p:spPr>
          <a:xfrm>
            <a:off x="1097278" y="2270095"/>
            <a:ext cx="2103120" cy="1078992"/>
          </a:xfrm>
          <a:prstGeom prst="roundRect">
            <a:avLst/>
          </a:prstGeom>
          <a:solidFill>
            <a:srgbClr val="D6E4F0"/>
          </a:solidFill>
          <a:ln w="15240">
            <a:solidFill>
              <a:srgbClr val="4472C4"/>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300" b="1">
                <a:solidFill>
                  <a:srgbClr val="161A3E"/>
                </a:solidFill>
                <a:latin typeface="Calibri"/>
              </a:rPr>
              <a:t>First draft</a:t>
            </a:r>
          </a:p>
          <a:p>
            <a:pPr algn="ctr">
              <a:lnSpc>
                <a:spcPct val="100000"/>
              </a:lnSpc>
            </a:pPr>
            <a:r>
              <a:rPr sz="1300" b="1">
                <a:solidFill>
                  <a:srgbClr val="161A3E"/>
                </a:solidFill>
                <a:latin typeface="Calibri"/>
              </a:rPr>
              <a:t>manager synthesises</a:t>
            </a:r>
          </a:p>
          <a:p>
            <a:pPr algn="ctr">
              <a:lnSpc>
                <a:spcPct val="100000"/>
              </a:lnSpc>
            </a:pPr>
            <a:r>
              <a:rPr sz="1300" b="1">
                <a:solidFill>
                  <a:srgbClr val="161A3E"/>
                </a:solidFill>
                <a:latin typeface="Calibri"/>
              </a:rPr>
              <a:t>worker outputs</a:t>
            </a:r>
          </a:p>
        </p:txBody>
      </p:sp>
      <p:sp>
        <p:nvSpPr>
          <p:cNvPr id="6" name="Right Arrow 5"/>
          <p:cNvSpPr/>
          <p:nvPr/>
        </p:nvSpPr>
        <p:spPr>
          <a:xfrm>
            <a:off x="3273549" y="2654143"/>
            <a:ext cx="343895" cy="301752"/>
          </a:xfrm>
          <a:prstGeom prst="rightArrow">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721606" y="2270095"/>
            <a:ext cx="2103120" cy="1078992"/>
          </a:xfrm>
          <a:prstGeom prst="roundRect">
            <a:avLst/>
          </a:prstGeom>
          <a:solidFill>
            <a:srgbClr val="D6E4F0"/>
          </a:solidFill>
          <a:ln w="15240">
            <a:solidFill>
              <a:srgbClr val="4472C4"/>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300" b="1">
                <a:solidFill>
                  <a:srgbClr val="161A3E"/>
                </a:solidFill>
                <a:latin typeface="Calibri"/>
              </a:rPr>
              <a:t>Critique</a:t>
            </a:r>
          </a:p>
          <a:p>
            <a:pPr algn="ctr">
              <a:lnSpc>
                <a:spcPct val="100000"/>
              </a:lnSpc>
            </a:pPr>
            <a:r>
              <a:rPr sz="1300" b="1">
                <a:solidFill>
                  <a:srgbClr val="161A3E"/>
                </a:solidFill>
                <a:latin typeface="Calibri"/>
              </a:rPr>
              <a:t>finds conflicts,</a:t>
            </a:r>
          </a:p>
          <a:p>
            <a:pPr algn="ctr">
              <a:lnSpc>
                <a:spcPct val="100000"/>
              </a:lnSpc>
            </a:pPr>
            <a:r>
              <a:rPr sz="1300" b="1">
                <a:solidFill>
                  <a:srgbClr val="161A3E"/>
                </a:solidFill>
                <a:latin typeface="Calibri"/>
              </a:rPr>
              <a:t>gaps, weak assumptions</a:t>
            </a:r>
          </a:p>
        </p:txBody>
      </p:sp>
      <p:sp>
        <p:nvSpPr>
          <p:cNvPr id="8" name="Right Arrow 7"/>
          <p:cNvSpPr/>
          <p:nvPr/>
        </p:nvSpPr>
        <p:spPr>
          <a:xfrm>
            <a:off x="5897877" y="2654143"/>
            <a:ext cx="343896" cy="301752"/>
          </a:xfrm>
          <a:prstGeom prst="rightArrow">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345934" y="2270095"/>
            <a:ext cx="2103120" cy="1078992"/>
          </a:xfrm>
          <a:prstGeom prst="roundRect">
            <a:avLst/>
          </a:prstGeom>
          <a:solidFill>
            <a:srgbClr val="D6E4F0"/>
          </a:solidFill>
          <a:ln w="15240">
            <a:solidFill>
              <a:srgbClr val="4472C4"/>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300" b="1">
                <a:solidFill>
                  <a:srgbClr val="161A3E"/>
                </a:solidFill>
                <a:latin typeface="Calibri"/>
              </a:rPr>
              <a:t>Revision plan</a:t>
            </a:r>
          </a:p>
          <a:p>
            <a:pPr algn="ctr">
              <a:lnSpc>
                <a:spcPct val="100000"/>
              </a:lnSpc>
            </a:pPr>
            <a:r>
              <a:rPr sz="1300" b="1">
                <a:solidFill>
                  <a:srgbClr val="161A3E"/>
                </a:solidFill>
                <a:latin typeface="Calibri"/>
              </a:rPr>
              <a:t>specific fixes,</a:t>
            </a:r>
          </a:p>
          <a:p>
            <a:pPr algn="ctr">
              <a:lnSpc>
                <a:spcPct val="100000"/>
              </a:lnSpc>
            </a:pPr>
            <a:r>
              <a:rPr sz="1300" b="1">
                <a:solidFill>
                  <a:srgbClr val="161A3E"/>
                </a:solidFill>
                <a:latin typeface="Calibri"/>
              </a:rPr>
              <a:t>not a full rewrite</a:t>
            </a:r>
          </a:p>
        </p:txBody>
      </p:sp>
      <p:sp>
        <p:nvSpPr>
          <p:cNvPr id="10" name="Right Arrow 9"/>
          <p:cNvSpPr/>
          <p:nvPr/>
        </p:nvSpPr>
        <p:spPr>
          <a:xfrm>
            <a:off x="8522205" y="2654143"/>
            <a:ext cx="325607" cy="301752"/>
          </a:xfrm>
          <a:prstGeom prst="rightArrow">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930506" y="2270095"/>
            <a:ext cx="2103120" cy="1078992"/>
          </a:xfrm>
          <a:prstGeom prst="roundRect">
            <a:avLst/>
          </a:prstGeom>
          <a:solidFill>
            <a:srgbClr val="4472C4"/>
          </a:solidFill>
          <a:ln w="15240">
            <a:solidFill>
              <a:srgbClr val="4472C4"/>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300" b="1">
                <a:solidFill>
                  <a:srgbClr val="FFFFFF"/>
                </a:solidFill>
                <a:latin typeface="Calibri"/>
              </a:rPr>
              <a:t>Final answer</a:t>
            </a:r>
          </a:p>
          <a:p>
            <a:pPr algn="ctr">
              <a:lnSpc>
                <a:spcPct val="100000"/>
              </a:lnSpc>
            </a:pPr>
            <a:r>
              <a:rPr sz="1300" b="1">
                <a:solidFill>
                  <a:srgbClr val="FFFFFF"/>
                </a:solidFill>
                <a:latin typeface="Calibri"/>
              </a:rPr>
              <a:t>clear itinerary</a:t>
            </a:r>
          </a:p>
          <a:p>
            <a:pPr algn="ctr">
              <a:lnSpc>
                <a:spcPct val="100000"/>
              </a:lnSpc>
            </a:pPr>
            <a:r>
              <a:rPr sz="1300" b="1">
                <a:solidFill>
                  <a:srgbClr val="FFFFFF"/>
                </a:solidFill>
                <a:latin typeface="Calibri"/>
              </a:rPr>
              <a:t>+ trade-offs</a:t>
            </a:r>
          </a:p>
        </p:txBody>
      </p:sp>
      <p:sp>
        <p:nvSpPr>
          <p:cNvPr id="12" name="Rounded Rectangle 11"/>
          <p:cNvSpPr/>
          <p:nvPr/>
        </p:nvSpPr>
        <p:spPr>
          <a:xfrm>
            <a:off x="1029693" y="4009446"/>
            <a:ext cx="2331720" cy="1051560"/>
          </a:xfrm>
          <a:prstGeom prst="roundRect">
            <a:avLst/>
          </a:prstGeom>
          <a:solidFill>
            <a:srgbClr val="FFFFFF"/>
          </a:solidFill>
          <a:ln w="15240">
            <a:solidFill>
              <a:srgbClr val="161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1029693" y="4009446"/>
            <a:ext cx="2331720" cy="315468"/>
          </a:xfrm>
          <a:prstGeom prst="roundRect">
            <a:avLst/>
          </a:prstGeom>
          <a:solidFill>
            <a:srgbClr val="161A3E"/>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400" b="1">
                <a:solidFill>
                  <a:srgbClr val="FFFFFF"/>
                </a:solidFill>
                <a:latin typeface="Calibri"/>
              </a:rPr>
              <a:t>Budget</a:t>
            </a:r>
          </a:p>
        </p:txBody>
      </p:sp>
      <p:sp>
        <p:nvSpPr>
          <p:cNvPr id="14" name="TextBox 13"/>
          <p:cNvSpPr txBox="1"/>
          <p:nvPr/>
        </p:nvSpPr>
        <p:spPr>
          <a:xfrm>
            <a:off x="1075413" y="4370634"/>
            <a:ext cx="2240279" cy="662940"/>
          </a:xfrm>
          <a:prstGeom prst="rect">
            <a:avLst/>
          </a:prstGeom>
          <a:noFill/>
        </p:spPr>
        <p:txBody>
          <a:bodyPr wrap="square" tIns="54864" bIns="54864">
            <a:noAutofit/>
          </a:bodyPr>
          <a:lstStyle/>
          <a:p>
            <a:pPr algn="l">
              <a:lnSpc>
                <a:spcPct val="100000"/>
              </a:lnSpc>
            </a:pPr>
            <a:r>
              <a:rPr sz="1150" b="0">
                <a:solidFill>
                  <a:srgbClr val="161A3E"/>
                </a:solidFill>
                <a:latin typeface="Calibri"/>
              </a:rPr>
              <a:t>Does the plan respect the stated limits?</a:t>
            </a:r>
          </a:p>
        </p:txBody>
      </p:sp>
      <p:sp>
        <p:nvSpPr>
          <p:cNvPr id="15" name="Rounded Rectangle 14"/>
          <p:cNvSpPr/>
          <p:nvPr/>
        </p:nvSpPr>
        <p:spPr>
          <a:xfrm>
            <a:off x="3635733" y="4009446"/>
            <a:ext cx="2331720" cy="1051560"/>
          </a:xfrm>
          <a:prstGeom prst="roundRect">
            <a:avLst/>
          </a:prstGeom>
          <a:solidFill>
            <a:srgbClr val="FFFFFF"/>
          </a:solidFill>
          <a:ln w="1524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3635733" y="4009446"/>
            <a:ext cx="2331720" cy="315468"/>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400" b="1">
                <a:solidFill>
                  <a:srgbClr val="FFFFFF"/>
                </a:solidFill>
                <a:latin typeface="Calibri"/>
              </a:rPr>
              <a:t>Pacing</a:t>
            </a:r>
          </a:p>
        </p:txBody>
      </p:sp>
      <p:sp>
        <p:nvSpPr>
          <p:cNvPr id="17" name="TextBox 16"/>
          <p:cNvSpPr txBox="1"/>
          <p:nvPr/>
        </p:nvSpPr>
        <p:spPr>
          <a:xfrm>
            <a:off x="3681452" y="4370634"/>
            <a:ext cx="2240279" cy="662940"/>
          </a:xfrm>
          <a:prstGeom prst="rect">
            <a:avLst/>
          </a:prstGeom>
          <a:noFill/>
        </p:spPr>
        <p:txBody>
          <a:bodyPr wrap="square" tIns="54864" bIns="54864">
            <a:noAutofit/>
          </a:bodyPr>
          <a:lstStyle/>
          <a:p>
            <a:pPr algn="l">
              <a:lnSpc>
                <a:spcPct val="100000"/>
              </a:lnSpc>
            </a:pPr>
            <a:r>
              <a:rPr sz="1150" b="0">
                <a:solidFill>
                  <a:srgbClr val="161A3E"/>
                </a:solidFill>
                <a:latin typeface="Calibri"/>
              </a:rPr>
              <a:t>Are days overloaded or badly sequenced?</a:t>
            </a:r>
          </a:p>
        </p:txBody>
      </p:sp>
      <p:sp>
        <p:nvSpPr>
          <p:cNvPr id="18" name="Rounded Rectangle 17"/>
          <p:cNvSpPr/>
          <p:nvPr/>
        </p:nvSpPr>
        <p:spPr>
          <a:xfrm>
            <a:off x="6241773" y="4009446"/>
            <a:ext cx="2331720" cy="1051560"/>
          </a:xfrm>
          <a:prstGeom prst="roundRect">
            <a:avLst/>
          </a:prstGeom>
          <a:solidFill>
            <a:srgbClr val="FFFFFF"/>
          </a:solidFill>
          <a:ln w="15240">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241773" y="4009446"/>
            <a:ext cx="2331720" cy="315468"/>
          </a:xfrm>
          <a:prstGeom prst="round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400" b="1">
                <a:solidFill>
                  <a:srgbClr val="FFFFFF"/>
                </a:solidFill>
                <a:latin typeface="Calibri"/>
              </a:rPr>
              <a:t>Preferences</a:t>
            </a:r>
          </a:p>
        </p:txBody>
      </p:sp>
      <p:sp>
        <p:nvSpPr>
          <p:cNvPr id="20" name="TextBox 19"/>
          <p:cNvSpPr txBox="1"/>
          <p:nvPr/>
        </p:nvSpPr>
        <p:spPr>
          <a:xfrm>
            <a:off x="6287493" y="4370634"/>
            <a:ext cx="2240279" cy="662940"/>
          </a:xfrm>
          <a:prstGeom prst="rect">
            <a:avLst/>
          </a:prstGeom>
          <a:noFill/>
        </p:spPr>
        <p:txBody>
          <a:bodyPr wrap="square" tIns="54864" bIns="54864">
            <a:noAutofit/>
          </a:bodyPr>
          <a:lstStyle/>
          <a:p>
            <a:pPr algn="l">
              <a:lnSpc>
                <a:spcPct val="100000"/>
              </a:lnSpc>
            </a:pPr>
            <a:r>
              <a:rPr sz="1150" b="0">
                <a:solidFill>
                  <a:srgbClr val="161A3E"/>
                </a:solidFill>
                <a:latin typeface="Calibri"/>
              </a:rPr>
              <a:t>Are interests visible in the plan?</a:t>
            </a:r>
          </a:p>
        </p:txBody>
      </p:sp>
      <p:sp>
        <p:nvSpPr>
          <p:cNvPr id="21" name="Rounded Rectangle 20"/>
          <p:cNvSpPr/>
          <p:nvPr/>
        </p:nvSpPr>
        <p:spPr>
          <a:xfrm>
            <a:off x="8847813" y="4009446"/>
            <a:ext cx="2331720" cy="1051560"/>
          </a:xfrm>
          <a:prstGeom prst="roundRect">
            <a:avLst/>
          </a:prstGeom>
          <a:solidFill>
            <a:srgbClr val="FFFFFF"/>
          </a:solidFill>
          <a:ln w="15240">
            <a:solidFill>
              <a:srgbClr val="161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8847813" y="4009446"/>
            <a:ext cx="2331720" cy="315468"/>
          </a:xfrm>
          <a:prstGeom prst="roundRect">
            <a:avLst/>
          </a:prstGeom>
          <a:solidFill>
            <a:srgbClr val="161A3E"/>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400" b="1">
                <a:solidFill>
                  <a:srgbClr val="FFFFFF"/>
                </a:solidFill>
                <a:latin typeface="Calibri"/>
              </a:rPr>
              <a:t>Assumptions</a:t>
            </a:r>
          </a:p>
        </p:txBody>
      </p:sp>
      <p:sp>
        <p:nvSpPr>
          <p:cNvPr id="23" name="TextBox 22"/>
          <p:cNvSpPr txBox="1"/>
          <p:nvPr/>
        </p:nvSpPr>
        <p:spPr>
          <a:xfrm>
            <a:off x="8893533" y="4370634"/>
            <a:ext cx="2240279" cy="662940"/>
          </a:xfrm>
          <a:prstGeom prst="rect">
            <a:avLst/>
          </a:prstGeom>
          <a:noFill/>
        </p:spPr>
        <p:txBody>
          <a:bodyPr wrap="square" tIns="54864" bIns="54864">
            <a:noAutofit/>
          </a:bodyPr>
          <a:lstStyle/>
          <a:p>
            <a:pPr algn="l">
              <a:lnSpc>
                <a:spcPct val="100000"/>
              </a:lnSpc>
            </a:pPr>
            <a:r>
              <a:rPr sz="1150" b="0">
                <a:solidFill>
                  <a:srgbClr val="161A3E"/>
                </a:solidFill>
                <a:latin typeface="Calibri"/>
              </a:rPr>
              <a:t>Are unknowns stated honestly?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76656" y="603504"/>
            <a:ext cx="10835640" cy="612648"/>
          </a:xfrm>
          <a:prstGeom prst="rect">
            <a:avLst/>
          </a:prstGeom>
          <a:noFill/>
        </p:spPr>
        <p:txBody>
          <a:bodyPr wrap="square" tIns="54864" bIns="54864">
            <a:noAutofit/>
          </a:bodyPr>
          <a:lstStyle/>
          <a:p>
            <a:pPr algn="l">
              <a:lnSpc>
                <a:spcPct val="100000"/>
              </a:lnSpc>
            </a:pPr>
            <a:r>
              <a:rPr sz="3100" b="1">
                <a:solidFill>
                  <a:srgbClr val="161A3E"/>
                </a:solidFill>
                <a:latin typeface="Calibri"/>
              </a:rPr>
              <a:t>End-to-end architecture</a:t>
            </a: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555480" y="1143000"/>
            <a:ext cx="1947672" cy="292608"/>
          </a:xfrm>
          <a:prstGeom prst="round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000" b="1">
                <a:solidFill>
                  <a:srgbClr val="44546A"/>
                </a:solidFill>
                <a:latin typeface="Calibri"/>
              </a:rPr>
              <a:t>System view</a:t>
            </a:r>
          </a:p>
        </p:txBody>
      </p:sp>
      <p:pic>
        <p:nvPicPr>
          <p:cNvPr id="22" name="Picture 21">
            <a:extLst>
              <a:ext uri="{FF2B5EF4-FFF2-40B4-BE49-F238E27FC236}">
                <a16:creationId xmlns:a16="http://schemas.microsoft.com/office/drawing/2014/main" id="{90959160-0967-3F92-1C91-FF1180225748}"/>
              </a:ext>
            </a:extLst>
          </p:cNvPr>
          <p:cNvPicPr>
            <a:picLocks noChangeAspect="1"/>
          </p:cNvPicPr>
          <p:nvPr/>
        </p:nvPicPr>
        <p:blipFill>
          <a:blip r:embed="rId3">
            <a:extLst>
              <a:ext uri="{28A0092B-C50C-407E-A947-70E740481C1C}">
                <a14:useLocalDpi xmlns:a14="http://schemas.microsoft.com/office/drawing/2010/main" val="0"/>
              </a:ext>
            </a:extLst>
          </a:blip>
          <a:srcRect t="23200" b="16667"/>
          <a:stretch>
            <a:fillRect/>
          </a:stretch>
        </p:blipFill>
        <p:spPr>
          <a:xfrm>
            <a:off x="3239" y="1919045"/>
            <a:ext cx="12185522" cy="412394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76656" y="603504"/>
            <a:ext cx="10835640" cy="612648"/>
          </a:xfrm>
          <a:prstGeom prst="rect">
            <a:avLst/>
          </a:prstGeom>
          <a:noFill/>
        </p:spPr>
        <p:txBody>
          <a:bodyPr wrap="square" tIns="54864" bIns="54864">
            <a:noAutofit/>
          </a:bodyPr>
          <a:lstStyle/>
          <a:p>
            <a:pPr algn="l">
              <a:lnSpc>
                <a:spcPct val="100000"/>
              </a:lnSpc>
            </a:pPr>
            <a:r>
              <a:rPr sz="3100" b="1">
                <a:solidFill>
                  <a:srgbClr val="161A3E"/>
                </a:solidFill>
                <a:latin typeface="Calibri"/>
              </a:rPr>
              <a:t>Theory-to-practical handoff: what the sprint will build</a:t>
            </a: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555480" y="1143000"/>
            <a:ext cx="1947672" cy="292608"/>
          </a:xfrm>
          <a:prstGeom prst="round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000" b="1">
                <a:solidFill>
                  <a:srgbClr val="44546A"/>
                </a:solidFill>
                <a:latin typeface="Calibri"/>
              </a:rPr>
              <a:t>Build map</a:t>
            </a:r>
          </a:p>
        </p:txBody>
      </p:sp>
      <p:sp>
        <p:nvSpPr>
          <p:cNvPr id="5" name="Rounded Rectangle 4"/>
          <p:cNvSpPr/>
          <p:nvPr/>
        </p:nvSpPr>
        <p:spPr>
          <a:xfrm>
            <a:off x="804672" y="1847088"/>
            <a:ext cx="4892040" cy="3429000"/>
          </a:xfrm>
          <a:prstGeom prst="roundRect">
            <a:avLst/>
          </a:prstGeom>
          <a:solidFill>
            <a:srgbClr val="161A3E"/>
          </a:solidFill>
          <a:ln w="15240">
            <a:solidFill>
              <a:srgbClr val="161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2176272"/>
            <a:ext cx="4745736" cy="3026664"/>
          </a:xfrm>
          <a:prstGeom prst="rect">
            <a:avLst/>
          </a:prstGeom>
          <a:noFill/>
        </p:spPr>
        <p:txBody>
          <a:bodyPr wrap="square" tIns="54864" bIns="54864">
            <a:noAutofit/>
          </a:bodyPr>
          <a:lstStyle/>
          <a:p>
            <a:pPr algn="l">
              <a:lnSpc>
                <a:spcPct val="100000"/>
              </a:lnSpc>
            </a:pPr>
            <a:r>
              <a:rPr sz="1080" b="0">
                <a:solidFill>
                  <a:srgbClr val="FFFFFF"/>
                </a:solidFill>
                <a:latin typeface="Consolas"/>
              </a:rPr>
              <a:t>mini_project/</a:t>
            </a:r>
          </a:p>
          <a:p>
            <a:pPr algn="l">
              <a:lnSpc>
                <a:spcPct val="100000"/>
              </a:lnSpc>
            </a:pPr>
            <a:r>
              <a:rPr sz="1080" b="0">
                <a:solidFill>
                  <a:srgbClr val="FFFFFF"/>
                </a:solidFill>
                <a:latin typeface="Consolas"/>
              </a:rPr>
              <a:t>├── agents/</a:t>
            </a:r>
          </a:p>
          <a:p>
            <a:pPr algn="l">
              <a:lnSpc>
                <a:spcPct val="100000"/>
              </a:lnSpc>
            </a:pPr>
            <a:r>
              <a:rPr sz="1080" b="0">
                <a:solidFill>
                  <a:srgbClr val="FFFFFF"/>
                </a:solidFill>
                <a:latin typeface="Consolas"/>
              </a:rPr>
              <a:t>│   ├── manager.py</a:t>
            </a:r>
          </a:p>
          <a:p>
            <a:pPr algn="l">
              <a:lnSpc>
                <a:spcPct val="100000"/>
              </a:lnSpc>
            </a:pPr>
            <a:r>
              <a:rPr sz="1080" b="0">
                <a:solidFill>
                  <a:srgbClr val="FFFFFF"/>
                </a:solidFill>
                <a:latin typeface="Consolas"/>
              </a:rPr>
              <a:t>│   ├── workers.py</a:t>
            </a:r>
          </a:p>
          <a:p>
            <a:pPr algn="l">
              <a:lnSpc>
                <a:spcPct val="100000"/>
              </a:lnSpc>
            </a:pPr>
            <a:r>
              <a:rPr sz="1080" b="0">
                <a:solidFill>
                  <a:srgbClr val="FFFFFF"/>
                </a:solidFill>
                <a:latin typeface="Consolas"/>
              </a:rPr>
              <a:t>│   └── critic.py</a:t>
            </a:r>
          </a:p>
          <a:p>
            <a:pPr algn="l">
              <a:lnSpc>
                <a:spcPct val="100000"/>
              </a:lnSpc>
            </a:pPr>
            <a:r>
              <a:rPr sz="1080" b="0">
                <a:solidFill>
                  <a:srgbClr val="FFFFFF"/>
                </a:solidFill>
                <a:latin typeface="Consolas"/>
              </a:rPr>
              <a:t>├── tools/</a:t>
            </a:r>
          </a:p>
          <a:p>
            <a:pPr algn="l">
              <a:lnSpc>
                <a:spcPct val="100000"/>
              </a:lnSpc>
            </a:pPr>
            <a:r>
              <a:rPr sz="1080" b="0">
                <a:solidFill>
                  <a:srgbClr val="FFFFFF"/>
                </a:solidFill>
                <a:latin typeface="Consolas"/>
              </a:rPr>
              <a:t>│   └── travel_tools.py</a:t>
            </a:r>
          </a:p>
          <a:p>
            <a:pPr algn="l">
              <a:lnSpc>
                <a:spcPct val="100000"/>
              </a:lnSpc>
            </a:pPr>
            <a:r>
              <a:rPr sz="1080" b="0">
                <a:solidFill>
                  <a:srgbClr val="FFFFFF"/>
                </a:solidFill>
                <a:latin typeface="Consolas"/>
              </a:rPr>
              <a:t>├── data/</a:t>
            </a:r>
          </a:p>
          <a:p>
            <a:pPr algn="l">
              <a:lnSpc>
                <a:spcPct val="100000"/>
              </a:lnSpc>
            </a:pPr>
            <a:r>
              <a:rPr sz="1080" b="0">
                <a:solidFill>
                  <a:srgbClr val="FFFFFF"/>
                </a:solidFill>
                <a:latin typeface="Consolas"/>
              </a:rPr>
              <a:t>│   ├── sample_flights.json</a:t>
            </a:r>
          </a:p>
          <a:p>
            <a:pPr algn="l">
              <a:lnSpc>
                <a:spcPct val="100000"/>
              </a:lnSpc>
            </a:pPr>
            <a:r>
              <a:rPr sz="1080" b="0">
                <a:solidFill>
                  <a:srgbClr val="FFFFFF"/>
                </a:solidFill>
                <a:latin typeface="Consolas"/>
              </a:rPr>
              <a:t>│   ├── sample_hotels.json</a:t>
            </a:r>
          </a:p>
          <a:p>
            <a:pPr algn="l">
              <a:lnSpc>
                <a:spcPct val="100000"/>
              </a:lnSpc>
            </a:pPr>
            <a:r>
              <a:rPr sz="1080" b="0">
                <a:solidFill>
                  <a:srgbClr val="FFFFFF"/>
                </a:solidFill>
                <a:latin typeface="Consolas"/>
              </a:rPr>
              <a:t>│   └── sample_activities.json</a:t>
            </a:r>
          </a:p>
          <a:p>
            <a:pPr algn="l">
              <a:lnSpc>
                <a:spcPct val="100000"/>
              </a:lnSpc>
            </a:pPr>
            <a:r>
              <a:rPr sz="1080" b="0">
                <a:solidFill>
                  <a:srgbClr val="FFFFFF"/>
                </a:solidFill>
                <a:latin typeface="Consolas"/>
              </a:rPr>
              <a:t>├── models.py</a:t>
            </a:r>
          </a:p>
          <a:p>
            <a:pPr algn="l">
              <a:lnSpc>
                <a:spcPct val="100000"/>
              </a:lnSpc>
            </a:pPr>
            <a:r>
              <a:rPr sz="1080" b="0">
                <a:solidFill>
                  <a:srgbClr val="FFFFFF"/>
                </a:solidFill>
                <a:latin typeface="Consolas"/>
              </a:rPr>
              <a:t>├── main.py</a:t>
            </a:r>
          </a:p>
          <a:p>
            <a:pPr algn="l">
              <a:lnSpc>
                <a:spcPct val="100000"/>
              </a:lnSpc>
            </a:pPr>
            <a:r>
              <a:rPr sz="1080" b="0">
                <a:solidFill>
                  <a:srgbClr val="FFFFFF"/>
                </a:solidFill>
                <a:latin typeface="Consolas"/>
              </a:rPr>
              <a:t>└── README.md</a:t>
            </a:r>
          </a:p>
        </p:txBody>
      </p:sp>
      <p:sp>
        <p:nvSpPr>
          <p:cNvPr id="7" name="Oval 6"/>
          <p:cNvSpPr/>
          <p:nvPr/>
        </p:nvSpPr>
        <p:spPr>
          <a:xfrm>
            <a:off x="6080760" y="1920240"/>
            <a:ext cx="420624" cy="420624"/>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300" b="1">
                <a:solidFill>
                  <a:srgbClr val="FFFFFF"/>
                </a:solidFill>
                <a:latin typeface="Calibri"/>
              </a:rPr>
              <a:t>1</a:t>
            </a:r>
          </a:p>
        </p:txBody>
      </p:sp>
      <p:sp>
        <p:nvSpPr>
          <p:cNvPr id="8" name="Rounded Rectangle 7"/>
          <p:cNvSpPr/>
          <p:nvPr/>
        </p:nvSpPr>
        <p:spPr>
          <a:xfrm>
            <a:off x="6583680" y="1892808"/>
            <a:ext cx="4343400" cy="658368"/>
          </a:xfrm>
          <a:prstGeom prst="roundRect">
            <a:avLst/>
          </a:prstGeom>
          <a:solidFill>
            <a:srgbClr val="D6E4F0"/>
          </a:solidFill>
          <a:ln w="1524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0" y="1947672"/>
            <a:ext cx="4160520" cy="228600"/>
          </a:xfrm>
          <a:prstGeom prst="rect">
            <a:avLst/>
          </a:prstGeom>
          <a:noFill/>
        </p:spPr>
        <p:txBody>
          <a:bodyPr wrap="square" tIns="54864" bIns="54864">
            <a:noAutofit/>
          </a:bodyPr>
          <a:lstStyle/>
          <a:p>
            <a:pPr algn="l">
              <a:lnSpc>
                <a:spcPct val="100000"/>
              </a:lnSpc>
            </a:pPr>
            <a:r>
              <a:rPr sz="1300" b="1">
                <a:solidFill>
                  <a:srgbClr val="161A3E"/>
                </a:solidFill>
                <a:latin typeface="Calibri"/>
              </a:rPr>
              <a:t>Start local data tools</a:t>
            </a:r>
          </a:p>
        </p:txBody>
      </p:sp>
      <p:sp>
        <p:nvSpPr>
          <p:cNvPr id="10" name="TextBox 9"/>
          <p:cNvSpPr txBox="1"/>
          <p:nvPr/>
        </p:nvSpPr>
        <p:spPr>
          <a:xfrm>
            <a:off x="6675120" y="2240280"/>
            <a:ext cx="4160520" cy="310896"/>
          </a:xfrm>
          <a:prstGeom prst="rect">
            <a:avLst/>
          </a:prstGeom>
          <a:noFill/>
        </p:spPr>
        <p:txBody>
          <a:bodyPr wrap="square" tIns="54864" bIns="54864">
            <a:noAutofit/>
          </a:bodyPr>
          <a:lstStyle/>
          <a:p>
            <a:pPr algn="l">
              <a:lnSpc>
                <a:spcPct val="100000"/>
              </a:lnSpc>
            </a:pPr>
            <a:r>
              <a:rPr sz="1150" b="0">
                <a:solidFill>
                  <a:srgbClr val="44546A"/>
                </a:solidFill>
                <a:latin typeface="Calibri"/>
              </a:rPr>
              <a:t>Prove deterministic search before adding LLM reasoning.</a:t>
            </a:r>
          </a:p>
        </p:txBody>
      </p:sp>
      <p:sp>
        <p:nvSpPr>
          <p:cNvPr id="11" name="Oval 10"/>
          <p:cNvSpPr/>
          <p:nvPr/>
        </p:nvSpPr>
        <p:spPr>
          <a:xfrm>
            <a:off x="6080760" y="2816352"/>
            <a:ext cx="420624" cy="420624"/>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300" b="1">
                <a:solidFill>
                  <a:srgbClr val="FFFFFF"/>
                </a:solidFill>
                <a:latin typeface="Calibri"/>
              </a:rPr>
              <a:t>2</a:t>
            </a:r>
          </a:p>
        </p:txBody>
      </p:sp>
      <p:sp>
        <p:nvSpPr>
          <p:cNvPr id="12" name="Rounded Rectangle 11"/>
          <p:cNvSpPr/>
          <p:nvPr/>
        </p:nvSpPr>
        <p:spPr>
          <a:xfrm>
            <a:off x="6583680" y="2788920"/>
            <a:ext cx="4343400" cy="658368"/>
          </a:xfrm>
          <a:prstGeom prst="roundRect">
            <a:avLst/>
          </a:prstGeom>
          <a:solidFill>
            <a:srgbClr val="D6E4F0"/>
          </a:solidFill>
          <a:ln w="1524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75120" y="2843784"/>
            <a:ext cx="4160520" cy="228600"/>
          </a:xfrm>
          <a:prstGeom prst="rect">
            <a:avLst/>
          </a:prstGeom>
          <a:noFill/>
        </p:spPr>
        <p:txBody>
          <a:bodyPr wrap="square" tIns="54864" bIns="54864">
            <a:noAutofit/>
          </a:bodyPr>
          <a:lstStyle/>
          <a:p>
            <a:pPr algn="l">
              <a:lnSpc>
                <a:spcPct val="100000"/>
              </a:lnSpc>
            </a:pPr>
            <a:r>
              <a:rPr sz="1300" b="1">
                <a:solidFill>
                  <a:srgbClr val="161A3E"/>
                </a:solidFill>
                <a:latin typeface="Calibri"/>
              </a:rPr>
              <a:t>Add worker prompts</a:t>
            </a:r>
          </a:p>
        </p:txBody>
      </p:sp>
      <p:sp>
        <p:nvSpPr>
          <p:cNvPr id="14" name="TextBox 13"/>
          <p:cNvSpPr txBox="1"/>
          <p:nvPr/>
        </p:nvSpPr>
        <p:spPr>
          <a:xfrm>
            <a:off x="6675120" y="3136392"/>
            <a:ext cx="4160520" cy="310896"/>
          </a:xfrm>
          <a:prstGeom prst="rect">
            <a:avLst/>
          </a:prstGeom>
          <a:noFill/>
        </p:spPr>
        <p:txBody>
          <a:bodyPr wrap="square" tIns="54864" bIns="54864">
            <a:noAutofit/>
          </a:bodyPr>
          <a:lstStyle/>
          <a:p>
            <a:pPr algn="l">
              <a:lnSpc>
                <a:spcPct val="100000"/>
              </a:lnSpc>
            </a:pPr>
            <a:r>
              <a:rPr sz="1150" b="0">
                <a:solidFill>
                  <a:srgbClr val="44546A"/>
                </a:solidFill>
                <a:latin typeface="Calibri"/>
              </a:rPr>
              <a:t>Each worker ranks options and returns structured output.</a:t>
            </a:r>
          </a:p>
        </p:txBody>
      </p:sp>
      <p:sp>
        <p:nvSpPr>
          <p:cNvPr id="15" name="Oval 14"/>
          <p:cNvSpPr/>
          <p:nvPr/>
        </p:nvSpPr>
        <p:spPr>
          <a:xfrm>
            <a:off x="6080760" y="3712463"/>
            <a:ext cx="420624" cy="420624"/>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300" b="1">
                <a:solidFill>
                  <a:srgbClr val="FFFFFF"/>
                </a:solidFill>
                <a:latin typeface="Calibri"/>
              </a:rPr>
              <a:t>3</a:t>
            </a:r>
          </a:p>
        </p:txBody>
      </p:sp>
      <p:sp>
        <p:nvSpPr>
          <p:cNvPr id="16" name="Rounded Rectangle 15"/>
          <p:cNvSpPr/>
          <p:nvPr/>
        </p:nvSpPr>
        <p:spPr>
          <a:xfrm>
            <a:off x="6583680" y="3685031"/>
            <a:ext cx="4343400" cy="658368"/>
          </a:xfrm>
          <a:prstGeom prst="roundRect">
            <a:avLst/>
          </a:prstGeom>
          <a:solidFill>
            <a:srgbClr val="D6E4F0"/>
          </a:solidFill>
          <a:ln w="1524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0" y="3739896"/>
            <a:ext cx="4160520" cy="228600"/>
          </a:xfrm>
          <a:prstGeom prst="rect">
            <a:avLst/>
          </a:prstGeom>
          <a:noFill/>
        </p:spPr>
        <p:txBody>
          <a:bodyPr wrap="square" tIns="54864" bIns="54864">
            <a:noAutofit/>
          </a:bodyPr>
          <a:lstStyle/>
          <a:p>
            <a:pPr algn="l">
              <a:lnSpc>
                <a:spcPct val="100000"/>
              </a:lnSpc>
            </a:pPr>
            <a:r>
              <a:rPr sz="1300" b="1">
                <a:solidFill>
                  <a:srgbClr val="161A3E"/>
                </a:solidFill>
                <a:latin typeface="Calibri"/>
              </a:rPr>
              <a:t>Orchestrate with manager</a:t>
            </a:r>
          </a:p>
        </p:txBody>
      </p:sp>
      <p:sp>
        <p:nvSpPr>
          <p:cNvPr id="18" name="TextBox 17"/>
          <p:cNvSpPr txBox="1"/>
          <p:nvPr/>
        </p:nvSpPr>
        <p:spPr>
          <a:xfrm>
            <a:off x="6675120" y="4032503"/>
            <a:ext cx="4160520" cy="310896"/>
          </a:xfrm>
          <a:prstGeom prst="rect">
            <a:avLst/>
          </a:prstGeom>
          <a:noFill/>
        </p:spPr>
        <p:txBody>
          <a:bodyPr wrap="square" tIns="54864" bIns="54864">
            <a:noAutofit/>
          </a:bodyPr>
          <a:lstStyle/>
          <a:p>
            <a:pPr algn="l">
              <a:lnSpc>
                <a:spcPct val="100000"/>
              </a:lnSpc>
            </a:pPr>
            <a:r>
              <a:rPr sz="1150" b="0">
                <a:solidFill>
                  <a:srgbClr val="44546A"/>
                </a:solidFill>
                <a:latin typeface="Calibri"/>
              </a:rPr>
              <a:t>Manager combines worker outputs into the first plan.</a:t>
            </a:r>
          </a:p>
        </p:txBody>
      </p:sp>
      <p:sp>
        <p:nvSpPr>
          <p:cNvPr id="19" name="Oval 18"/>
          <p:cNvSpPr/>
          <p:nvPr/>
        </p:nvSpPr>
        <p:spPr>
          <a:xfrm>
            <a:off x="6080760" y="4608576"/>
            <a:ext cx="420624" cy="420624"/>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300" b="1">
                <a:solidFill>
                  <a:srgbClr val="FFFFFF"/>
                </a:solidFill>
                <a:latin typeface="Calibri"/>
              </a:rPr>
              <a:t>4</a:t>
            </a:r>
          </a:p>
        </p:txBody>
      </p:sp>
      <p:sp>
        <p:nvSpPr>
          <p:cNvPr id="20" name="Rounded Rectangle 19"/>
          <p:cNvSpPr/>
          <p:nvPr/>
        </p:nvSpPr>
        <p:spPr>
          <a:xfrm>
            <a:off x="6583680" y="4581144"/>
            <a:ext cx="4343400" cy="658368"/>
          </a:xfrm>
          <a:prstGeom prst="roundRect">
            <a:avLst/>
          </a:prstGeom>
          <a:solidFill>
            <a:srgbClr val="D6E4F0"/>
          </a:solidFill>
          <a:ln w="1524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675120" y="4636008"/>
            <a:ext cx="4160520" cy="228600"/>
          </a:xfrm>
          <a:prstGeom prst="rect">
            <a:avLst/>
          </a:prstGeom>
          <a:noFill/>
        </p:spPr>
        <p:txBody>
          <a:bodyPr wrap="square" tIns="54864" bIns="54864">
            <a:noAutofit/>
          </a:bodyPr>
          <a:lstStyle/>
          <a:p>
            <a:pPr algn="l">
              <a:lnSpc>
                <a:spcPct val="100000"/>
              </a:lnSpc>
            </a:pPr>
            <a:r>
              <a:rPr sz="1300" b="1">
                <a:solidFill>
                  <a:srgbClr val="161A3E"/>
                </a:solidFill>
                <a:latin typeface="Calibri"/>
              </a:rPr>
              <a:t>Run critique + revision</a:t>
            </a:r>
          </a:p>
        </p:txBody>
      </p:sp>
      <p:sp>
        <p:nvSpPr>
          <p:cNvPr id="22" name="TextBox 21"/>
          <p:cNvSpPr txBox="1"/>
          <p:nvPr/>
        </p:nvSpPr>
        <p:spPr>
          <a:xfrm>
            <a:off x="6675120" y="4928616"/>
            <a:ext cx="4160520" cy="310896"/>
          </a:xfrm>
          <a:prstGeom prst="rect">
            <a:avLst/>
          </a:prstGeom>
          <a:noFill/>
        </p:spPr>
        <p:txBody>
          <a:bodyPr wrap="square" tIns="54864" bIns="54864">
            <a:noAutofit/>
          </a:bodyPr>
          <a:lstStyle/>
          <a:p>
            <a:pPr algn="l">
              <a:lnSpc>
                <a:spcPct val="100000"/>
              </a:lnSpc>
            </a:pPr>
            <a:r>
              <a:rPr sz="1150" b="0">
                <a:solidFill>
                  <a:srgbClr val="44546A"/>
                </a:solidFill>
                <a:latin typeface="Calibri"/>
              </a:rPr>
              <a:t>Critic identifies fixes; manager produces the final version.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76656" y="603504"/>
            <a:ext cx="10835640" cy="612648"/>
          </a:xfrm>
          <a:prstGeom prst="rect">
            <a:avLst/>
          </a:prstGeom>
          <a:noFill/>
        </p:spPr>
        <p:txBody>
          <a:bodyPr wrap="square" tIns="54864" bIns="54864">
            <a:noAutofit/>
          </a:bodyPr>
          <a:lstStyle/>
          <a:p>
            <a:pPr algn="l">
              <a:lnSpc>
                <a:spcPct val="100000"/>
              </a:lnSpc>
            </a:pPr>
            <a:r>
              <a:rPr sz="3100" b="1">
                <a:solidFill>
                  <a:srgbClr val="161A3E"/>
                </a:solidFill>
                <a:latin typeface="Calibri"/>
              </a:rPr>
              <a:t>How to judge whether the demo worked</a:t>
            </a: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555480" y="1143000"/>
            <a:ext cx="1947672" cy="292608"/>
          </a:xfrm>
          <a:prstGeom prst="round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000" b="1">
                <a:solidFill>
                  <a:srgbClr val="44546A"/>
                </a:solidFill>
                <a:latin typeface="Calibri"/>
              </a:rPr>
              <a:t>Evaluation</a:t>
            </a:r>
          </a:p>
        </p:txBody>
      </p:sp>
      <p:sp>
        <p:nvSpPr>
          <p:cNvPr id="5" name="Oval 4"/>
          <p:cNvSpPr/>
          <p:nvPr/>
        </p:nvSpPr>
        <p:spPr>
          <a:xfrm>
            <a:off x="841248" y="1801368"/>
            <a:ext cx="320040" cy="32004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050" b="1">
                <a:solidFill>
                  <a:srgbClr val="FFFFFF"/>
                </a:solidFill>
                <a:latin typeface="Calibri"/>
              </a:rPr>
              <a:t>1</a:t>
            </a:r>
          </a:p>
        </p:txBody>
      </p:sp>
      <p:sp>
        <p:nvSpPr>
          <p:cNvPr id="6" name="TextBox 5"/>
          <p:cNvSpPr txBox="1"/>
          <p:nvPr/>
        </p:nvSpPr>
        <p:spPr>
          <a:xfrm>
            <a:off x="1325880" y="1773936"/>
            <a:ext cx="2148840" cy="274320"/>
          </a:xfrm>
          <a:prstGeom prst="rect">
            <a:avLst/>
          </a:prstGeom>
          <a:noFill/>
        </p:spPr>
        <p:txBody>
          <a:bodyPr wrap="square" tIns="54864" bIns="54864">
            <a:noAutofit/>
          </a:bodyPr>
          <a:lstStyle/>
          <a:p>
            <a:pPr algn="l">
              <a:lnSpc>
                <a:spcPct val="100000"/>
              </a:lnSpc>
            </a:pPr>
            <a:r>
              <a:rPr sz="1350" b="1">
                <a:solidFill>
                  <a:srgbClr val="161A3E"/>
                </a:solidFill>
                <a:latin typeface="Calibri"/>
              </a:rPr>
              <a:t>Constraint capture</a:t>
            </a:r>
          </a:p>
        </p:txBody>
      </p:sp>
      <p:sp>
        <p:nvSpPr>
          <p:cNvPr id="7" name="TextBox 6"/>
          <p:cNvSpPr txBox="1"/>
          <p:nvPr/>
        </p:nvSpPr>
        <p:spPr>
          <a:xfrm>
            <a:off x="3611880" y="1755648"/>
            <a:ext cx="7406640" cy="347472"/>
          </a:xfrm>
          <a:prstGeom prst="rect">
            <a:avLst/>
          </a:prstGeom>
          <a:noFill/>
        </p:spPr>
        <p:txBody>
          <a:bodyPr wrap="square" tIns="54864" bIns="54864">
            <a:noAutofit/>
          </a:bodyPr>
          <a:lstStyle/>
          <a:p>
            <a:pPr algn="l">
              <a:lnSpc>
                <a:spcPct val="100000"/>
              </a:lnSpc>
            </a:pPr>
            <a:r>
              <a:rPr sz="1250" b="0">
                <a:solidFill>
                  <a:srgbClr val="44546A"/>
                </a:solidFill>
                <a:latin typeface="Calibri"/>
              </a:rPr>
              <a:t>Origin, destination, dates/duration, budget, interests, and hard constraints are correctly extracted.</a:t>
            </a:r>
          </a:p>
        </p:txBody>
      </p:sp>
      <p:sp>
        <p:nvSpPr>
          <p:cNvPr id="8" name="Oval 7"/>
          <p:cNvSpPr/>
          <p:nvPr/>
        </p:nvSpPr>
        <p:spPr>
          <a:xfrm>
            <a:off x="841248" y="2468879"/>
            <a:ext cx="320040" cy="32004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050" b="1">
                <a:solidFill>
                  <a:srgbClr val="FFFFFF"/>
                </a:solidFill>
                <a:latin typeface="Calibri"/>
              </a:rPr>
              <a:t>2</a:t>
            </a:r>
          </a:p>
        </p:txBody>
      </p:sp>
      <p:sp>
        <p:nvSpPr>
          <p:cNvPr id="9" name="TextBox 8"/>
          <p:cNvSpPr txBox="1"/>
          <p:nvPr/>
        </p:nvSpPr>
        <p:spPr>
          <a:xfrm>
            <a:off x="1325880" y="2441448"/>
            <a:ext cx="2148840" cy="274320"/>
          </a:xfrm>
          <a:prstGeom prst="rect">
            <a:avLst/>
          </a:prstGeom>
          <a:noFill/>
        </p:spPr>
        <p:txBody>
          <a:bodyPr wrap="square" tIns="54864" bIns="54864">
            <a:noAutofit/>
          </a:bodyPr>
          <a:lstStyle/>
          <a:p>
            <a:pPr algn="l">
              <a:lnSpc>
                <a:spcPct val="100000"/>
              </a:lnSpc>
            </a:pPr>
            <a:r>
              <a:rPr sz="1350" b="1">
                <a:solidFill>
                  <a:srgbClr val="161A3E"/>
                </a:solidFill>
                <a:latin typeface="Calibri"/>
              </a:rPr>
              <a:t>Tool grounding</a:t>
            </a:r>
          </a:p>
        </p:txBody>
      </p:sp>
      <p:sp>
        <p:nvSpPr>
          <p:cNvPr id="10" name="TextBox 9"/>
          <p:cNvSpPr txBox="1"/>
          <p:nvPr/>
        </p:nvSpPr>
        <p:spPr>
          <a:xfrm>
            <a:off x="3611880" y="2423160"/>
            <a:ext cx="7406640" cy="347472"/>
          </a:xfrm>
          <a:prstGeom prst="rect">
            <a:avLst/>
          </a:prstGeom>
          <a:noFill/>
        </p:spPr>
        <p:txBody>
          <a:bodyPr wrap="square" tIns="54864" bIns="54864">
            <a:noAutofit/>
          </a:bodyPr>
          <a:lstStyle/>
          <a:p>
            <a:pPr algn="l">
              <a:lnSpc>
                <a:spcPct val="100000"/>
              </a:lnSpc>
            </a:pPr>
            <a:r>
              <a:rPr sz="1250" b="0">
                <a:solidFill>
                  <a:srgbClr val="44546A"/>
                </a:solidFill>
                <a:latin typeface="Calibri"/>
              </a:rPr>
              <a:t>Flights, hotels, and activities come from tool outputs rather than unsupported invention.</a:t>
            </a:r>
          </a:p>
        </p:txBody>
      </p:sp>
      <p:sp>
        <p:nvSpPr>
          <p:cNvPr id="11" name="Oval 10"/>
          <p:cNvSpPr/>
          <p:nvPr/>
        </p:nvSpPr>
        <p:spPr>
          <a:xfrm>
            <a:off x="841248" y="3136391"/>
            <a:ext cx="320040" cy="32004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050" b="1">
                <a:solidFill>
                  <a:srgbClr val="FFFFFF"/>
                </a:solidFill>
                <a:latin typeface="Calibri"/>
              </a:rPr>
              <a:t>3</a:t>
            </a:r>
          </a:p>
        </p:txBody>
      </p:sp>
      <p:sp>
        <p:nvSpPr>
          <p:cNvPr id="12" name="TextBox 11"/>
          <p:cNvSpPr txBox="1"/>
          <p:nvPr/>
        </p:nvSpPr>
        <p:spPr>
          <a:xfrm>
            <a:off x="1325880" y="3108960"/>
            <a:ext cx="2148840" cy="274320"/>
          </a:xfrm>
          <a:prstGeom prst="rect">
            <a:avLst/>
          </a:prstGeom>
          <a:noFill/>
        </p:spPr>
        <p:txBody>
          <a:bodyPr wrap="square" tIns="54864" bIns="54864">
            <a:noAutofit/>
          </a:bodyPr>
          <a:lstStyle/>
          <a:p>
            <a:pPr algn="l">
              <a:lnSpc>
                <a:spcPct val="100000"/>
              </a:lnSpc>
            </a:pPr>
            <a:r>
              <a:rPr sz="1350" b="1">
                <a:solidFill>
                  <a:srgbClr val="161A3E"/>
                </a:solidFill>
                <a:latin typeface="Calibri"/>
              </a:rPr>
              <a:t>Trade-off reasoning</a:t>
            </a:r>
          </a:p>
        </p:txBody>
      </p:sp>
      <p:sp>
        <p:nvSpPr>
          <p:cNvPr id="13" name="TextBox 12"/>
          <p:cNvSpPr txBox="1"/>
          <p:nvPr/>
        </p:nvSpPr>
        <p:spPr>
          <a:xfrm>
            <a:off x="3611880" y="3090672"/>
            <a:ext cx="7406640" cy="347472"/>
          </a:xfrm>
          <a:prstGeom prst="rect">
            <a:avLst/>
          </a:prstGeom>
          <a:noFill/>
        </p:spPr>
        <p:txBody>
          <a:bodyPr wrap="square" tIns="54864" bIns="54864">
            <a:noAutofit/>
          </a:bodyPr>
          <a:lstStyle/>
          <a:p>
            <a:pPr algn="l">
              <a:lnSpc>
                <a:spcPct val="100000"/>
              </a:lnSpc>
            </a:pPr>
            <a:r>
              <a:rPr sz="1250" b="0">
                <a:solidFill>
                  <a:srgbClr val="44546A"/>
                </a:solidFill>
                <a:latin typeface="Calibri"/>
              </a:rPr>
              <a:t>The final plan explains why one option was selected over reasonable alternatives.</a:t>
            </a:r>
          </a:p>
        </p:txBody>
      </p:sp>
      <p:sp>
        <p:nvSpPr>
          <p:cNvPr id="14" name="Oval 13"/>
          <p:cNvSpPr/>
          <p:nvPr/>
        </p:nvSpPr>
        <p:spPr>
          <a:xfrm>
            <a:off x="841248" y="3803903"/>
            <a:ext cx="320040" cy="32004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050" b="1">
                <a:solidFill>
                  <a:srgbClr val="FFFFFF"/>
                </a:solidFill>
                <a:latin typeface="Calibri"/>
              </a:rPr>
              <a:t>4</a:t>
            </a:r>
          </a:p>
        </p:txBody>
      </p:sp>
      <p:sp>
        <p:nvSpPr>
          <p:cNvPr id="15" name="TextBox 14"/>
          <p:cNvSpPr txBox="1"/>
          <p:nvPr/>
        </p:nvSpPr>
        <p:spPr>
          <a:xfrm>
            <a:off x="1325880" y="3776472"/>
            <a:ext cx="2148840" cy="274320"/>
          </a:xfrm>
          <a:prstGeom prst="rect">
            <a:avLst/>
          </a:prstGeom>
          <a:noFill/>
        </p:spPr>
        <p:txBody>
          <a:bodyPr wrap="square" tIns="54864" bIns="54864">
            <a:noAutofit/>
          </a:bodyPr>
          <a:lstStyle/>
          <a:p>
            <a:pPr algn="l">
              <a:lnSpc>
                <a:spcPct val="100000"/>
              </a:lnSpc>
            </a:pPr>
            <a:r>
              <a:rPr sz="1350" b="1">
                <a:solidFill>
                  <a:srgbClr val="161A3E"/>
                </a:solidFill>
                <a:latin typeface="Calibri"/>
              </a:rPr>
              <a:t>Critique quality</a:t>
            </a:r>
          </a:p>
        </p:txBody>
      </p:sp>
      <p:sp>
        <p:nvSpPr>
          <p:cNvPr id="16" name="TextBox 15"/>
          <p:cNvSpPr txBox="1"/>
          <p:nvPr/>
        </p:nvSpPr>
        <p:spPr>
          <a:xfrm>
            <a:off x="3611880" y="3758183"/>
            <a:ext cx="7406640" cy="347472"/>
          </a:xfrm>
          <a:prstGeom prst="rect">
            <a:avLst/>
          </a:prstGeom>
          <a:noFill/>
        </p:spPr>
        <p:txBody>
          <a:bodyPr wrap="square" tIns="54864" bIns="54864">
            <a:noAutofit/>
          </a:bodyPr>
          <a:lstStyle/>
          <a:p>
            <a:pPr algn="l">
              <a:lnSpc>
                <a:spcPct val="100000"/>
              </a:lnSpc>
            </a:pPr>
            <a:r>
              <a:rPr sz="1250" b="0">
                <a:solidFill>
                  <a:srgbClr val="44546A"/>
                </a:solidFill>
                <a:latin typeface="Calibri"/>
              </a:rPr>
              <a:t>The critic finds actionable issues instead of vague comments like “make it better”.</a:t>
            </a:r>
          </a:p>
        </p:txBody>
      </p:sp>
      <p:sp>
        <p:nvSpPr>
          <p:cNvPr id="17" name="Oval 16"/>
          <p:cNvSpPr/>
          <p:nvPr/>
        </p:nvSpPr>
        <p:spPr>
          <a:xfrm>
            <a:off x="841248" y="4471415"/>
            <a:ext cx="320040" cy="32004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050" b="1">
                <a:solidFill>
                  <a:srgbClr val="FFFFFF"/>
                </a:solidFill>
                <a:latin typeface="Calibri"/>
              </a:rPr>
              <a:t>5</a:t>
            </a:r>
          </a:p>
        </p:txBody>
      </p:sp>
      <p:sp>
        <p:nvSpPr>
          <p:cNvPr id="18" name="TextBox 17"/>
          <p:cNvSpPr txBox="1"/>
          <p:nvPr/>
        </p:nvSpPr>
        <p:spPr>
          <a:xfrm>
            <a:off x="1325880" y="4443983"/>
            <a:ext cx="2148840" cy="274320"/>
          </a:xfrm>
          <a:prstGeom prst="rect">
            <a:avLst/>
          </a:prstGeom>
          <a:noFill/>
        </p:spPr>
        <p:txBody>
          <a:bodyPr wrap="square" tIns="54864" bIns="54864">
            <a:noAutofit/>
          </a:bodyPr>
          <a:lstStyle/>
          <a:p>
            <a:pPr algn="l">
              <a:lnSpc>
                <a:spcPct val="100000"/>
              </a:lnSpc>
            </a:pPr>
            <a:r>
              <a:rPr sz="1350" b="1">
                <a:solidFill>
                  <a:srgbClr val="161A3E"/>
                </a:solidFill>
                <a:latin typeface="Calibri"/>
              </a:rPr>
              <a:t>Revision trace</a:t>
            </a:r>
          </a:p>
        </p:txBody>
      </p:sp>
      <p:sp>
        <p:nvSpPr>
          <p:cNvPr id="19" name="TextBox 18"/>
          <p:cNvSpPr txBox="1"/>
          <p:nvPr/>
        </p:nvSpPr>
        <p:spPr>
          <a:xfrm>
            <a:off x="3611880" y="4425695"/>
            <a:ext cx="7406640" cy="347472"/>
          </a:xfrm>
          <a:prstGeom prst="rect">
            <a:avLst/>
          </a:prstGeom>
          <a:noFill/>
        </p:spPr>
        <p:txBody>
          <a:bodyPr wrap="square" tIns="54864" bIns="54864">
            <a:noAutofit/>
          </a:bodyPr>
          <a:lstStyle/>
          <a:p>
            <a:pPr algn="l">
              <a:lnSpc>
                <a:spcPct val="100000"/>
              </a:lnSpc>
            </a:pPr>
            <a:r>
              <a:rPr sz="1250" b="0">
                <a:solidFill>
                  <a:srgbClr val="44546A"/>
                </a:solidFill>
                <a:latin typeface="Calibri"/>
              </a:rPr>
              <a:t>The final itinerary visibly improves after critique and states remaining assumptions.</a:t>
            </a:r>
          </a:p>
        </p:txBody>
      </p:sp>
      <p:sp>
        <p:nvSpPr>
          <p:cNvPr id="20" name="Rounded Rectangle 19"/>
          <p:cNvSpPr/>
          <p:nvPr/>
        </p:nvSpPr>
        <p:spPr>
          <a:xfrm>
            <a:off x="1091316" y="5416428"/>
            <a:ext cx="9966960" cy="384048"/>
          </a:xfrm>
          <a:prstGeom prst="roundRect">
            <a:avLst/>
          </a:prstGeom>
          <a:solidFill>
            <a:srgbClr val="161A3E"/>
          </a:solidFill>
          <a:ln w="15240">
            <a:solidFill>
              <a:srgbClr val="161A3E"/>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350" b="1">
                <a:solidFill>
                  <a:srgbClr val="FFFFFF"/>
                </a:solidFill>
                <a:latin typeface="Calibri"/>
              </a:rPr>
              <a:t>A fluent itinerary is not enough. The system must be inspectable, grounded, and improvable.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76656" y="603504"/>
            <a:ext cx="10835640" cy="612648"/>
          </a:xfrm>
          <a:prstGeom prst="rect">
            <a:avLst/>
          </a:prstGeom>
          <a:noFill/>
        </p:spPr>
        <p:txBody>
          <a:bodyPr wrap="square" tIns="54864" bIns="54864">
            <a:noAutofit/>
          </a:bodyPr>
          <a:lstStyle/>
          <a:p>
            <a:pPr algn="l">
              <a:lnSpc>
                <a:spcPct val="100000"/>
              </a:lnSpc>
            </a:pPr>
            <a:r>
              <a:rPr sz="3100" b="1">
                <a:solidFill>
                  <a:srgbClr val="161A3E"/>
                </a:solidFill>
                <a:latin typeface="Calibri"/>
              </a:rPr>
              <a:t>Failure modes to watch for during the sprint</a:t>
            </a: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555480" y="1143000"/>
            <a:ext cx="1947672" cy="292608"/>
          </a:xfrm>
          <a:prstGeom prst="round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000" b="1">
                <a:solidFill>
                  <a:srgbClr val="44546A"/>
                </a:solidFill>
                <a:latin typeface="Calibri"/>
              </a:rPr>
              <a:t>Debugging</a:t>
            </a:r>
          </a:p>
        </p:txBody>
      </p:sp>
      <p:sp>
        <p:nvSpPr>
          <p:cNvPr id="5" name="Rounded Rectangle 4"/>
          <p:cNvSpPr/>
          <p:nvPr/>
        </p:nvSpPr>
        <p:spPr>
          <a:xfrm>
            <a:off x="777240" y="1828800"/>
            <a:ext cx="4892040" cy="2876927"/>
          </a:xfrm>
          <a:prstGeom prst="roundRect">
            <a:avLst/>
          </a:prstGeom>
          <a:solidFill>
            <a:srgbClr val="FFFFFF"/>
          </a:solidFill>
          <a:ln w="15240">
            <a:solidFill>
              <a:srgbClr val="161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77240" y="1818861"/>
            <a:ext cx="4892040" cy="502920"/>
          </a:xfrm>
          <a:prstGeom prst="roundRect">
            <a:avLst/>
          </a:prstGeom>
          <a:solidFill>
            <a:srgbClr val="161A3E"/>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400" b="1">
                <a:solidFill>
                  <a:srgbClr val="FFFFFF"/>
                </a:solidFill>
                <a:latin typeface="Calibri"/>
              </a:rPr>
              <a:t>Common symptoms</a:t>
            </a:r>
          </a:p>
        </p:txBody>
      </p:sp>
      <p:sp>
        <p:nvSpPr>
          <p:cNvPr id="7" name="TextBox 6"/>
          <p:cNvSpPr txBox="1"/>
          <p:nvPr/>
        </p:nvSpPr>
        <p:spPr>
          <a:xfrm>
            <a:off x="822960" y="2377439"/>
            <a:ext cx="4800600" cy="2373465"/>
          </a:xfrm>
          <a:prstGeom prst="rect">
            <a:avLst/>
          </a:prstGeom>
          <a:noFill/>
        </p:spPr>
        <p:txBody>
          <a:bodyPr wrap="square" tIns="54864" bIns="54864">
            <a:noAutofit/>
          </a:bodyPr>
          <a:lstStyle/>
          <a:p>
            <a:pPr algn="l">
              <a:lnSpc>
                <a:spcPct val="100000"/>
              </a:lnSpc>
            </a:pPr>
            <a:r>
              <a:rPr sz="1600" b="0" dirty="0">
                <a:solidFill>
                  <a:srgbClr val="161A3E"/>
                </a:solidFill>
                <a:latin typeface="Calibri"/>
              </a:rPr>
              <a:t>• manager ignores one user constraint</a:t>
            </a:r>
          </a:p>
          <a:p>
            <a:pPr algn="l">
              <a:lnSpc>
                <a:spcPct val="100000"/>
              </a:lnSpc>
            </a:pPr>
            <a:r>
              <a:rPr sz="1600" b="0" dirty="0">
                <a:solidFill>
                  <a:srgbClr val="161A3E"/>
                </a:solidFill>
                <a:latin typeface="Calibri"/>
              </a:rPr>
              <a:t>• worker returns prose instead of structure</a:t>
            </a:r>
          </a:p>
          <a:p>
            <a:pPr algn="l">
              <a:lnSpc>
                <a:spcPct val="100000"/>
              </a:lnSpc>
            </a:pPr>
            <a:r>
              <a:rPr sz="1600" b="0" dirty="0">
                <a:solidFill>
                  <a:srgbClr val="161A3E"/>
                </a:solidFill>
                <a:latin typeface="Calibri"/>
              </a:rPr>
              <a:t>• final plan invents unsupported options</a:t>
            </a:r>
          </a:p>
          <a:p>
            <a:pPr algn="l">
              <a:lnSpc>
                <a:spcPct val="100000"/>
              </a:lnSpc>
            </a:pPr>
            <a:r>
              <a:rPr sz="1600" b="0" dirty="0">
                <a:solidFill>
                  <a:srgbClr val="161A3E"/>
                </a:solidFill>
                <a:latin typeface="Calibri"/>
              </a:rPr>
              <a:t>• critic gives vague feedback</a:t>
            </a:r>
          </a:p>
          <a:p>
            <a:pPr algn="l">
              <a:lnSpc>
                <a:spcPct val="100000"/>
              </a:lnSpc>
            </a:pPr>
            <a:r>
              <a:rPr sz="1600" b="0" dirty="0">
                <a:solidFill>
                  <a:srgbClr val="161A3E"/>
                </a:solidFill>
                <a:latin typeface="Calibri"/>
              </a:rPr>
              <a:t>• revision rewrites good parts unnecessarily</a:t>
            </a:r>
          </a:p>
        </p:txBody>
      </p:sp>
      <p:sp>
        <p:nvSpPr>
          <p:cNvPr id="8" name="Rounded Rectangle 7"/>
          <p:cNvSpPr/>
          <p:nvPr/>
        </p:nvSpPr>
        <p:spPr>
          <a:xfrm>
            <a:off x="6492240" y="1828800"/>
            <a:ext cx="4892040" cy="2876927"/>
          </a:xfrm>
          <a:prstGeom prst="roundRect">
            <a:avLst/>
          </a:prstGeom>
          <a:solidFill>
            <a:srgbClr val="FFFFFF"/>
          </a:solidFill>
          <a:ln w="1524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492240" y="1818861"/>
            <a:ext cx="4892040" cy="502920"/>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400" b="1">
                <a:solidFill>
                  <a:srgbClr val="FFFFFF"/>
                </a:solidFill>
                <a:latin typeface="Calibri"/>
              </a:rPr>
              <a:t>Debugging moves</a:t>
            </a:r>
          </a:p>
        </p:txBody>
      </p:sp>
      <p:sp>
        <p:nvSpPr>
          <p:cNvPr id="10" name="TextBox 9"/>
          <p:cNvSpPr txBox="1"/>
          <p:nvPr/>
        </p:nvSpPr>
        <p:spPr>
          <a:xfrm>
            <a:off x="6537959" y="2377439"/>
            <a:ext cx="4800600" cy="2715768"/>
          </a:xfrm>
          <a:prstGeom prst="rect">
            <a:avLst/>
          </a:prstGeom>
          <a:noFill/>
        </p:spPr>
        <p:txBody>
          <a:bodyPr wrap="square" tIns="54864" bIns="54864">
            <a:noAutofit/>
          </a:bodyPr>
          <a:lstStyle/>
          <a:p>
            <a:pPr algn="l">
              <a:lnSpc>
                <a:spcPct val="100000"/>
              </a:lnSpc>
            </a:pPr>
            <a:r>
              <a:rPr sz="1600" b="0" dirty="0">
                <a:solidFill>
                  <a:srgbClr val="161A3E"/>
                </a:solidFill>
                <a:latin typeface="Calibri"/>
              </a:rPr>
              <a:t>• inspect the requirement extraction first</a:t>
            </a:r>
          </a:p>
          <a:p>
            <a:pPr algn="l">
              <a:lnSpc>
                <a:spcPct val="100000"/>
              </a:lnSpc>
            </a:pPr>
            <a:r>
              <a:rPr sz="1600" b="0" dirty="0">
                <a:solidFill>
                  <a:srgbClr val="161A3E"/>
                </a:solidFill>
                <a:latin typeface="Calibri"/>
              </a:rPr>
              <a:t>• validate each worker output separately</a:t>
            </a:r>
          </a:p>
          <a:p>
            <a:pPr algn="l">
              <a:lnSpc>
                <a:spcPct val="100000"/>
              </a:lnSpc>
            </a:pPr>
            <a:r>
              <a:rPr sz="1600" b="0" dirty="0">
                <a:solidFill>
                  <a:srgbClr val="161A3E"/>
                </a:solidFill>
                <a:latin typeface="Calibri"/>
              </a:rPr>
              <a:t>• tighten the output contract</a:t>
            </a:r>
          </a:p>
          <a:p>
            <a:pPr algn="l">
              <a:lnSpc>
                <a:spcPct val="100000"/>
              </a:lnSpc>
            </a:pPr>
            <a:r>
              <a:rPr sz="1600" b="0" dirty="0">
                <a:solidFill>
                  <a:srgbClr val="161A3E"/>
                </a:solidFill>
                <a:latin typeface="Calibri"/>
              </a:rPr>
              <a:t>• ask the critic for numbered repair actions</a:t>
            </a:r>
          </a:p>
          <a:p>
            <a:pPr algn="l">
              <a:lnSpc>
                <a:spcPct val="100000"/>
              </a:lnSpc>
            </a:pPr>
            <a:r>
              <a:rPr sz="1600" b="0" dirty="0">
                <a:solidFill>
                  <a:srgbClr val="161A3E"/>
                </a:solidFill>
                <a:latin typeface="Calibri"/>
              </a:rPr>
              <a:t>• revise only the broken sections</a:t>
            </a:r>
          </a:p>
        </p:txBody>
      </p:sp>
      <p:sp>
        <p:nvSpPr>
          <p:cNvPr id="11" name="Rounded Rectangle 10"/>
          <p:cNvSpPr/>
          <p:nvPr/>
        </p:nvSpPr>
        <p:spPr>
          <a:xfrm>
            <a:off x="1371600" y="5206119"/>
            <a:ext cx="9464040" cy="365760"/>
          </a:xfrm>
          <a:prstGeom prst="roundRect">
            <a:avLst/>
          </a:prstGeom>
          <a:solidFill>
            <a:srgbClr val="D6E4F0"/>
          </a:solidFill>
          <a:ln w="15240">
            <a:solidFill>
              <a:srgbClr val="D6E4F0"/>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350" b="1">
                <a:solidFill>
                  <a:srgbClr val="161A3E"/>
                </a:solidFill>
                <a:latin typeface="Calibri"/>
              </a:rPr>
              <a:t>Debug the pipeline from left to right. Do not start by changing the final prompt.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61A3E"/>
        </a:solidFill>
        <a:effectLst/>
      </p:bgPr>
    </p:bg>
    <p:spTree>
      <p:nvGrpSpPr>
        <p:cNvPr id="1" name=""/>
        <p:cNvGrpSpPr/>
        <p:nvPr/>
      </p:nvGrpSpPr>
      <p:grpSpPr>
        <a:xfrm>
          <a:off x="0" y="0"/>
          <a:ext cx="0" cy="0"/>
          <a:chOff x="0" y="0"/>
          <a:chExt cx="0" cy="0"/>
        </a:xfrm>
      </p:grpSpPr>
      <p:sp>
        <p:nvSpPr>
          <p:cNvPr id="2" name="TextBox 1"/>
          <p:cNvSpPr txBox="1"/>
          <p:nvPr/>
        </p:nvSpPr>
        <p:spPr>
          <a:xfrm>
            <a:off x="767301" y="822960"/>
            <a:ext cx="10652760" cy="640080"/>
          </a:xfrm>
          <a:prstGeom prst="rect">
            <a:avLst/>
          </a:prstGeom>
          <a:noFill/>
        </p:spPr>
        <p:txBody>
          <a:bodyPr wrap="square" tIns="54864" bIns="54864">
            <a:noAutofit/>
          </a:bodyPr>
          <a:lstStyle/>
          <a:p>
            <a:pPr algn="ctr">
              <a:lnSpc>
                <a:spcPct val="100000"/>
              </a:lnSpc>
            </a:pPr>
            <a:r>
              <a:rPr sz="3400" b="1">
                <a:solidFill>
                  <a:srgbClr val="FFFFFF"/>
                </a:solidFill>
                <a:latin typeface="Calibri"/>
              </a:rPr>
              <a:t>What this sprint unlocks</a:t>
            </a:r>
          </a:p>
        </p:txBody>
      </p:sp>
      <p:sp>
        <p:nvSpPr>
          <p:cNvPr id="3" name="Rounded Rectangle 2"/>
          <p:cNvSpPr/>
          <p:nvPr/>
        </p:nvSpPr>
        <p:spPr>
          <a:xfrm>
            <a:off x="725160" y="2057400"/>
            <a:ext cx="3383280" cy="2240280"/>
          </a:xfrm>
          <a:prstGeom prst="roundRect">
            <a:avLst/>
          </a:prstGeom>
          <a:solidFill>
            <a:srgbClr val="4472C4"/>
          </a:solidFill>
          <a:ln w="1524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89752" y="2240280"/>
            <a:ext cx="3054096" cy="320040"/>
          </a:xfrm>
          <a:prstGeom prst="rect">
            <a:avLst/>
          </a:prstGeom>
          <a:noFill/>
        </p:spPr>
        <p:txBody>
          <a:bodyPr wrap="square" tIns="54864" bIns="54864">
            <a:noAutofit/>
          </a:bodyPr>
          <a:lstStyle/>
          <a:p>
            <a:pPr algn="ctr">
              <a:lnSpc>
                <a:spcPct val="100000"/>
              </a:lnSpc>
            </a:pPr>
            <a:r>
              <a:rPr sz="1800" b="1">
                <a:solidFill>
                  <a:srgbClr val="FFFFFF"/>
                </a:solidFill>
                <a:latin typeface="Calibri"/>
              </a:rPr>
              <a:t>From prompting to systems</a:t>
            </a:r>
          </a:p>
        </p:txBody>
      </p:sp>
      <p:sp>
        <p:nvSpPr>
          <p:cNvPr id="5" name="TextBox 4"/>
          <p:cNvSpPr txBox="1"/>
          <p:nvPr/>
        </p:nvSpPr>
        <p:spPr>
          <a:xfrm>
            <a:off x="953759" y="2816352"/>
            <a:ext cx="2926080" cy="868680"/>
          </a:xfrm>
          <a:prstGeom prst="rect">
            <a:avLst/>
          </a:prstGeom>
          <a:noFill/>
        </p:spPr>
        <p:txBody>
          <a:bodyPr wrap="square" tIns="54864" bIns="54864">
            <a:noAutofit/>
          </a:bodyPr>
          <a:lstStyle/>
          <a:p>
            <a:pPr algn="ctr">
              <a:lnSpc>
                <a:spcPct val="100000"/>
              </a:lnSpc>
            </a:pPr>
            <a:r>
              <a:rPr sz="1420" b="0">
                <a:solidFill>
                  <a:srgbClr val="FFFFFF"/>
                </a:solidFill>
                <a:latin typeface="Calibri"/>
              </a:rPr>
              <a:t>Prompting becomes more reliable when each component has a narrow responsibility.</a:t>
            </a:r>
          </a:p>
        </p:txBody>
      </p:sp>
      <p:sp>
        <p:nvSpPr>
          <p:cNvPr id="6" name="Rounded Rectangle 5"/>
          <p:cNvSpPr/>
          <p:nvPr/>
        </p:nvSpPr>
        <p:spPr>
          <a:xfrm>
            <a:off x="4401047" y="2057400"/>
            <a:ext cx="3383280" cy="2240280"/>
          </a:xfrm>
          <a:prstGeom prst="roundRect">
            <a:avLst/>
          </a:prstGeom>
          <a:solidFill>
            <a:srgbClr val="5B9BD5"/>
          </a:solidFill>
          <a:ln w="15240">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65639" y="2240280"/>
            <a:ext cx="3054096" cy="320040"/>
          </a:xfrm>
          <a:prstGeom prst="rect">
            <a:avLst/>
          </a:prstGeom>
          <a:noFill/>
        </p:spPr>
        <p:txBody>
          <a:bodyPr wrap="square" tIns="54864" bIns="54864">
            <a:noAutofit/>
          </a:bodyPr>
          <a:lstStyle/>
          <a:p>
            <a:pPr algn="ctr">
              <a:lnSpc>
                <a:spcPct val="100000"/>
              </a:lnSpc>
            </a:pPr>
            <a:r>
              <a:rPr sz="1800" b="1">
                <a:solidFill>
                  <a:srgbClr val="FFFFFF"/>
                </a:solidFill>
                <a:latin typeface="Calibri"/>
              </a:rPr>
              <a:t>From answer to trace</a:t>
            </a:r>
          </a:p>
        </p:txBody>
      </p:sp>
      <p:sp>
        <p:nvSpPr>
          <p:cNvPr id="8" name="TextBox 7"/>
          <p:cNvSpPr txBox="1"/>
          <p:nvPr/>
        </p:nvSpPr>
        <p:spPr>
          <a:xfrm>
            <a:off x="4629647" y="2816352"/>
            <a:ext cx="2926080" cy="868680"/>
          </a:xfrm>
          <a:prstGeom prst="rect">
            <a:avLst/>
          </a:prstGeom>
          <a:noFill/>
        </p:spPr>
        <p:txBody>
          <a:bodyPr wrap="square" tIns="54864" bIns="54864">
            <a:noAutofit/>
          </a:bodyPr>
          <a:lstStyle/>
          <a:p>
            <a:pPr algn="ctr">
              <a:lnSpc>
                <a:spcPct val="100000"/>
              </a:lnSpc>
            </a:pPr>
            <a:r>
              <a:rPr sz="1420" b="0">
                <a:solidFill>
                  <a:srgbClr val="FFFFFF"/>
                </a:solidFill>
                <a:latin typeface="Calibri"/>
              </a:rPr>
              <a:t>A good agentic build exposes intermediate reasoning, tool observations, and revision steps.</a:t>
            </a:r>
          </a:p>
        </p:txBody>
      </p:sp>
      <p:sp>
        <p:nvSpPr>
          <p:cNvPr id="9" name="Rounded Rectangle 8"/>
          <p:cNvSpPr/>
          <p:nvPr/>
        </p:nvSpPr>
        <p:spPr>
          <a:xfrm>
            <a:off x="8076935" y="2057400"/>
            <a:ext cx="3383280" cy="2240280"/>
          </a:xfrm>
          <a:prstGeom prst="roundRect">
            <a:avLst/>
          </a:prstGeom>
          <a:solidFill>
            <a:srgbClr val="D6E4F0"/>
          </a:solidFill>
          <a:ln w="1524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41527" y="2240280"/>
            <a:ext cx="3054096" cy="320040"/>
          </a:xfrm>
          <a:prstGeom prst="rect">
            <a:avLst/>
          </a:prstGeom>
          <a:noFill/>
        </p:spPr>
        <p:txBody>
          <a:bodyPr wrap="square" tIns="54864" bIns="54864">
            <a:noAutofit/>
          </a:bodyPr>
          <a:lstStyle/>
          <a:p>
            <a:pPr algn="ctr">
              <a:lnSpc>
                <a:spcPct val="100000"/>
              </a:lnSpc>
            </a:pPr>
            <a:r>
              <a:rPr sz="1800" b="1">
                <a:solidFill>
                  <a:srgbClr val="161A3E"/>
                </a:solidFill>
                <a:latin typeface="Calibri"/>
              </a:rPr>
              <a:t>From prototype to refactor</a:t>
            </a:r>
          </a:p>
        </p:txBody>
      </p:sp>
      <p:sp>
        <p:nvSpPr>
          <p:cNvPr id="11" name="TextBox 10"/>
          <p:cNvSpPr txBox="1"/>
          <p:nvPr/>
        </p:nvSpPr>
        <p:spPr>
          <a:xfrm>
            <a:off x="8305535" y="2816352"/>
            <a:ext cx="2926080" cy="868680"/>
          </a:xfrm>
          <a:prstGeom prst="rect">
            <a:avLst/>
          </a:prstGeom>
          <a:noFill/>
        </p:spPr>
        <p:txBody>
          <a:bodyPr wrap="square" tIns="54864" bIns="54864">
            <a:noAutofit/>
          </a:bodyPr>
          <a:lstStyle/>
          <a:p>
            <a:pPr algn="ctr">
              <a:lnSpc>
                <a:spcPct val="100000"/>
              </a:lnSpc>
            </a:pPr>
            <a:r>
              <a:rPr sz="1420" b="0">
                <a:solidFill>
                  <a:srgbClr val="161A3E"/>
                </a:solidFill>
                <a:latin typeface="Calibri"/>
              </a:rPr>
              <a:t>This travel planner becomes the base for later framework and production upgrades.</a:t>
            </a:r>
          </a:p>
        </p:txBody>
      </p:sp>
      <p:sp>
        <p:nvSpPr>
          <p:cNvPr id="12" name="TextBox 11"/>
          <p:cNvSpPr txBox="1"/>
          <p:nvPr/>
        </p:nvSpPr>
        <p:spPr>
          <a:xfrm>
            <a:off x="1234440" y="5074920"/>
            <a:ext cx="9692640" cy="411480"/>
          </a:xfrm>
          <a:prstGeom prst="rect">
            <a:avLst/>
          </a:prstGeom>
          <a:noFill/>
        </p:spPr>
        <p:txBody>
          <a:bodyPr wrap="square" tIns="54864" bIns="54864">
            <a:noAutofit/>
          </a:bodyPr>
          <a:lstStyle/>
          <a:p>
            <a:pPr algn="ctr">
              <a:lnSpc>
                <a:spcPct val="100000"/>
              </a:lnSpc>
            </a:pPr>
            <a:r>
              <a:rPr sz="1800" b="1" dirty="0">
                <a:solidFill>
                  <a:srgbClr val="FFFFFF"/>
                </a:solidFill>
                <a:latin typeface="Calibri"/>
              </a:rPr>
              <a:t>Next move: open the project files and build the first runnable version.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76656" y="603504"/>
            <a:ext cx="10835640" cy="612648"/>
          </a:xfrm>
          <a:prstGeom prst="rect">
            <a:avLst/>
          </a:prstGeom>
          <a:noFill/>
        </p:spPr>
        <p:txBody>
          <a:bodyPr wrap="square" tIns="54864" bIns="54864">
            <a:noAutofit/>
          </a:bodyPr>
          <a:lstStyle/>
          <a:p>
            <a:pPr algn="l">
              <a:lnSpc>
                <a:spcPct val="100000"/>
              </a:lnSpc>
            </a:pPr>
            <a:r>
              <a:rPr sz="3100" b="1">
                <a:solidFill>
                  <a:srgbClr val="161A3E"/>
                </a:solidFill>
                <a:latin typeface="Calibri"/>
              </a:rPr>
              <a:t>References</a:t>
            </a: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41248" y="1783080"/>
            <a:ext cx="438912" cy="310896"/>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100" b="1">
                <a:solidFill>
                  <a:srgbClr val="FFFFFF"/>
                </a:solidFill>
                <a:latin typeface="Calibri"/>
              </a:rPr>
              <a:t>1</a:t>
            </a:r>
          </a:p>
        </p:txBody>
      </p:sp>
      <p:sp>
        <p:nvSpPr>
          <p:cNvPr id="5" name="TextBox 4"/>
          <p:cNvSpPr txBox="1"/>
          <p:nvPr/>
        </p:nvSpPr>
        <p:spPr>
          <a:xfrm>
            <a:off x="1444752" y="1764792"/>
            <a:ext cx="2834640" cy="274320"/>
          </a:xfrm>
          <a:prstGeom prst="rect">
            <a:avLst/>
          </a:prstGeom>
          <a:noFill/>
        </p:spPr>
        <p:txBody>
          <a:bodyPr wrap="square" tIns="54864" bIns="54864">
            <a:noAutofit/>
          </a:bodyPr>
          <a:lstStyle/>
          <a:p>
            <a:pPr algn="l">
              <a:lnSpc>
                <a:spcPct val="100000"/>
              </a:lnSpc>
            </a:pPr>
            <a:r>
              <a:rPr sz="1320" b="1">
                <a:solidFill>
                  <a:srgbClr val="161A3E"/>
                </a:solidFill>
                <a:latin typeface="Calibri"/>
              </a:rPr>
              <a:t>Expedia in ChatGPT</a:t>
            </a:r>
          </a:p>
        </p:txBody>
      </p:sp>
      <p:sp>
        <p:nvSpPr>
          <p:cNvPr id="6" name="TextBox 5"/>
          <p:cNvSpPr txBox="1"/>
          <p:nvPr/>
        </p:nvSpPr>
        <p:spPr>
          <a:xfrm>
            <a:off x="4389120" y="1764792"/>
            <a:ext cx="6446520" cy="411480"/>
          </a:xfrm>
          <a:prstGeom prst="rect">
            <a:avLst/>
          </a:prstGeom>
          <a:noFill/>
        </p:spPr>
        <p:txBody>
          <a:bodyPr wrap="square" tIns="54864" bIns="54864">
            <a:noAutofit/>
          </a:bodyPr>
          <a:lstStyle/>
          <a:p>
            <a:pPr algn="l">
              <a:lnSpc>
                <a:spcPct val="100000"/>
              </a:lnSpc>
            </a:pPr>
            <a:r>
              <a:rPr sz="1180" b="0">
                <a:solidFill>
                  <a:srgbClr val="44546A"/>
                </a:solidFill>
                <a:latin typeface="Calibri"/>
              </a:rPr>
              <a:t>Expedia product page: conversational trip planning inside ChatGPT.</a:t>
            </a:r>
          </a:p>
        </p:txBody>
      </p:sp>
      <p:sp>
        <p:nvSpPr>
          <p:cNvPr id="7" name="Rounded Rectangle 6"/>
          <p:cNvSpPr/>
          <p:nvPr/>
        </p:nvSpPr>
        <p:spPr>
          <a:xfrm>
            <a:off x="841248" y="2441448"/>
            <a:ext cx="438912" cy="310896"/>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100" b="1">
                <a:solidFill>
                  <a:srgbClr val="FFFFFF"/>
                </a:solidFill>
                <a:latin typeface="Calibri"/>
              </a:rPr>
              <a:t>2</a:t>
            </a:r>
          </a:p>
        </p:txBody>
      </p:sp>
      <p:sp>
        <p:nvSpPr>
          <p:cNvPr id="8" name="TextBox 7"/>
          <p:cNvSpPr txBox="1"/>
          <p:nvPr/>
        </p:nvSpPr>
        <p:spPr>
          <a:xfrm>
            <a:off x="1444752" y="2423160"/>
            <a:ext cx="2834640" cy="274320"/>
          </a:xfrm>
          <a:prstGeom prst="rect">
            <a:avLst/>
          </a:prstGeom>
          <a:noFill/>
        </p:spPr>
        <p:txBody>
          <a:bodyPr wrap="square" tIns="54864" bIns="54864">
            <a:noAutofit/>
          </a:bodyPr>
          <a:lstStyle/>
          <a:p>
            <a:pPr algn="l">
              <a:lnSpc>
                <a:spcPct val="100000"/>
              </a:lnSpc>
            </a:pPr>
            <a:r>
              <a:rPr sz="1320" b="1">
                <a:solidFill>
                  <a:srgbClr val="161A3E"/>
                </a:solidFill>
                <a:latin typeface="Calibri"/>
              </a:rPr>
              <a:t>Booking.com AI Trip Planner</a:t>
            </a:r>
          </a:p>
        </p:txBody>
      </p:sp>
      <p:sp>
        <p:nvSpPr>
          <p:cNvPr id="9" name="TextBox 8"/>
          <p:cNvSpPr txBox="1"/>
          <p:nvPr/>
        </p:nvSpPr>
        <p:spPr>
          <a:xfrm>
            <a:off x="4389120" y="2423160"/>
            <a:ext cx="6446520" cy="411480"/>
          </a:xfrm>
          <a:prstGeom prst="rect">
            <a:avLst/>
          </a:prstGeom>
          <a:noFill/>
        </p:spPr>
        <p:txBody>
          <a:bodyPr wrap="square" tIns="54864" bIns="54864">
            <a:noAutofit/>
          </a:bodyPr>
          <a:lstStyle/>
          <a:p>
            <a:pPr algn="l">
              <a:lnSpc>
                <a:spcPct val="100000"/>
              </a:lnSpc>
            </a:pPr>
            <a:r>
              <a:rPr sz="1180" b="0">
                <a:solidFill>
                  <a:srgbClr val="44546A"/>
                </a:solidFill>
                <a:latin typeface="Calibri"/>
              </a:rPr>
              <a:t>Booking.com newsroom: AI Trip Planner combines conversational planning with destination/property information and pricing/deep-links.</a:t>
            </a:r>
          </a:p>
        </p:txBody>
      </p:sp>
      <p:sp>
        <p:nvSpPr>
          <p:cNvPr id="10" name="Rounded Rectangle 9"/>
          <p:cNvSpPr/>
          <p:nvPr/>
        </p:nvSpPr>
        <p:spPr>
          <a:xfrm>
            <a:off x="841248" y="3099815"/>
            <a:ext cx="438912" cy="310896"/>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100" b="1">
                <a:solidFill>
                  <a:srgbClr val="FFFFFF"/>
                </a:solidFill>
                <a:latin typeface="Calibri"/>
              </a:rPr>
              <a:t>3</a:t>
            </a:r>
          </a:p>
        </p:txBody>
      </p:sp>
      <p:sp>
        <p:nvSpPr>
          <p:cNvPr id="11" name="TextBox 10"/>
          <p:cNvSpPr txBox="1"/>
          <p:nvPr/>
        </p:nvSpPr>
        <p:spPr>
          <a:xfrm>
            <a:off x="1444752" y="3081527"/>
            <a:ext cx="2834640" cy="274320"/>
          </a:xfrm>
          <a:prstGeom prst="rect">
            <a:avLst/>
          </a:prstGeom>
          <a:noFill/>
        </p:spPr>
        <p:txBody>
          <a:bodyPr wrap="square" tIns="54864" bIns="54864">
            <a:noAutofit/>
          </a:bodyPr>
          <a:lstStyle/>
          <a:p>
            <a:pPr algn="l">
              <a:lnSpc>
                <a:spcPct val="100000"/>
              </a:lnSpc>
            </a:pPr>
            <a:r>
              <a:rPr sz="1320" b="1">
                <a:solidFill>
                  <a:srgbClr val="161A3E"/>
                </a:solidFill>
                <a:latin typeface="Calibri"/>
              </a:rPr>
              <a:t>Booking.com + OpenAI case study</a:t>
            </a:r>
          </a:p>
        </p:txBody>
      </p:sp>
      <p:sp>
        <p:nvSpPr>
          <p:cNvPr id="12" name="TextBox 11"/>
          <p:cNvSpPr txBox="1"/>
          <p:nvPr/>
        </p:nvSpPr>
        <p:spPr>
          <a:xfrm>
            <a:off x="4389120" y="3081527"/>
            <a:ext cx="6446520" cy="411480"/>
          </a:xfrm>
          <a:prstGeom prst="rect">
            <a:avLst/>
          </a:prstGeom>
          <a:noFill/>
        </p:spPr>
        <p:txBody>
          <a:bodyPr wrap="square" tIns="54864" bIns="54864">
            <a:noAutofit/>
          </a:bodyPr>
          <a:lstStyle/>
          <a:p>
            <a:pPr algn="l">
              <a:lnSpc>
                <a:spcPct val="100000"/>
              </a:lnSpc>
            </a:pPr>
            <a:r>
              <a:rPr sz="1180" b="0">
                <a:solidFill>
                  <a:srgbClr val="44546A"/>
                </a:solidFill>
                <a:latin typeface="Calibri"/>
              </a:rPr>
              <a:t>OpenAI customer story: AI Trip Planner expanded toward more complex requests and personalization.</a:t>
            </a:r>
          </a:p>
        </p:txBody>
      </p:sp>
      <p:sp>
        <p:nvSpPr>
          <p:cNvPr id="13" name="Rounded Rectangle 12"/>
          <p:cNvSpPr/>
          <p:nvPr/>
        </p:nvSpPr>
        <p:spPr>
          <a:xfrm>
            <a:off x="841248" y="3758183"/>
            <a:ext cx="438912" cy="310896"/>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100" b="1">
                <a:solidFill>
                  <a:srgbClr val="FFFFFF"/>
                </a:solidFill>
                <a:latin typeface="Calibri"/>
              </a:rPr>
              <a:t>4</a:t>
            </a:r>
          </a:p>
        </p:txBody>
      </p:sp>
      <p:sp>
        <p:nvSpPr>
          <p:cNvPr id="14" name="TextBox 13"/>
          <p:cNvSpPr txBox="1"/>
          <p:nvPr/>
        </p:nvSpPr>
        <p:spPr>
          <a:xfrm>
            <a:off x="1444752" y="3739896"/>
            <a:ext cx="2834640" cy="274320"/>
          </a:xfrm>
          <a:prstGeom prst="rect">
            <a:avLst/>
          </a:prstGeom>
          <a:noFill/>
        </p:spPr>
        <p:txBody>
          <a:bodyPr wrap="square" tIns="54864" bIns="54864">
            <a:noAutofit/>
          </a:bodyPr>
          <a:lstStyle/>
          <a:p>
            <a:pPr algn="l">
              <a:lnSpc>
                <a:spcPct val="100000"/>
              </a:lnSpc>
            </a:pPr>
            <a:r>
              <a:rPr sz="1320" b="1">
                <a:solidFill>
                  <a:srgbClr val="161A3E"/>
                </a:solidFill>
                <a:latin typeface="Calibri"/>
              </a:rPr>
              <a:t>Reflexion</a:t>
            </a:r>
          </a:p>
        </p:txBody>
      </p:sp>
      <p:sp>
        <p:nvSpPr>
          <p:cNvPr id="15" name="TextBox 14"/>
          <p:cNvSpPr txBox="1"/>
          <p:nvPr/>
        </p:nvSpPr>
        <p:spPr>
          <a:xfrm>
            <a:off x="4389120" y="3739896"/>
            <a:ext cx="6446520" cy="411480"/>
          </a:xfrm>
          <a:prstGeom prst="rect">
            <a:avLst/>
          </a:prstGeom>
          <a:noFill/>
        </p:spPr>
        <p:txBody>
          <a:bodyPr wrap="square" tIns="54864" bIns="54864">
            <a:noAutofit/>
          </a:bodyPr>
          <a:lstStyle/>
          <a:p>
            <a:pPr algn="l">
              <a:lnSpc>
                <a:spcPct val="100000"/>
              </a:lnSpc>
            </a:pPr>
            <a:r>
              <a:rPr sz="1180" b="0">
                <a:solidFill>
                  <a:srgbClr val="44546A"/>
                </a:solidFill>
                <a:latin typeface="Calibri"/>
              </a:rPr>
              <a:t>Shinn et al., Reflexion: Language Agents with Verbal Reinforcement Learning.</a:t>
            </a:r>
          </a:p>
        </p:txBody>
      </p:sp>
      <p:sp>
        <p:nvSpPr>
          <p:cNvPr id="16" name="Rounded Rectangle 15"/>
          <p:cNvSpPr/>
          <p:nvPr/>
        </p:nvSpPr>
        <p:spPr>
          <a:xfrm>
            <a:off x="841248" y="4416551"/>
            <a:ext cx="438912" cy="310896"/>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100" b="1">
                <a:solidFill>
                  <a:srgbClr val="FFFFFF"/>
                </a:solidFill>
                <a:latin typeface="Calibri"/>
              </a:rPr>
              <a:t>5</a:t>
            </a:r>
          </a:p>
        </p:txBody>
      </p:sp>
      <p:sp>
        <p:nvSpPr>
          <p:cNvPr id="17" name="TextBox 16"/>
          <p:cNvSpPr txBox="1"/>
          <p:nvPr/>
        </p:nvSpPr>
        <p:spPr>
          <a:xfrm>
            <a:off x="1444752" y="4398264"/>
            <a:ext cx="2834640" cy="274320"/>
          </a:xfrm>
          <a:prstGeom prst="rect">
            <a:avLst/>
          </a:prstGeom>
          <a:noFill/>
        </p:spPr>
        <p:txBody>
          <a:bodyPr wrap="square" tIns="54864" bIns="54864">
            <a:noAutofit/>
          </a:bodyPr>
          <a:lstStyle/>
          <a:p>
            <a:pPr algn="l">
              <a:lnSpc>
                <a:spcPct val="100000"/>
              </a:lnSpc>
            </a:pPr>
            <a:r>
              <a:rPr sz="1320" b="1">
                <a:solidFill>
                  <a:srgbClr val="161A3E"/>
                </a:solidFill>
                <a:latin typeface="Calibri"/>
              </a:rPr>
              <a:t>ReAct</a:t>
            </a:r>
          </a:p>
        </p:txBody>
      </p:sp>
      <p:sp>
        <p:nvSpPr>
          <p:cNvPr id="18" name="TextBox 17"/>
          <p:cNvSpPr txBox="1"/>
          <p:nvPr/>
        </p:nvSpPr>
        <p:spPr>
          <a:xfrm>
            <a:off x="4389120" y="4398264"/>
            <a:ext cx="6446520" cy="411480"/>
          </a:xfrm>
          <a:prstGeom prst="rect">
            <a:avLst/>
          </a:prstGeom>
          <a:noFill/>
        </p:spPr>
        <p:txBody>
          <a:bodyPr wrap="square" tIns="54864" bIns="54864">
            <a:noAutofit/>
          </a:bodyPr>
          <a:lstStyle/>
          <a:p>
            <a:pPr algn="l">
              <a:lnSpc>
                <a:spcPct val="100000"/>
              </a:lnSpc>
            </a:pPr>
            <a:r>
              <a:rPr sz="1180" b="0">
                <a:solidFill>
                  <a:srgbClr val="44546A"/>
                </a:solidFill>
                <a:latin typeface="Calibri"/>
              </a:rPr>
              <a:t>Yao et al., ReAct: Synergizing Reasoning and Acting in Language Models.</a:t>
            </a:r>
          </a:p>
        </p:txBody>
      </p:sp>
      <p:sp>
        <p:nvSpPr>
          <p:cNvPr id="19" name="Rounded Rectangle 18"/>
          <p:cNvSpPr/>
          <p:nvPr/>
        </p:nvSpPr>
        <p:spPr>
          <a:xfrm>
            <a:off x="1005840" y="5413248"/>
            <a:ext cx="10012680" cy="310896"/>
          </a:xfrm>
          <a:prstGeom prst="roundRect">
            <a:avLst/>
          </a:prstGeom>
          <a:solidFill>
            <a:srgbClr val="F2F2F2"/>
          </a:solidFill>
          <a:ln w="15240">
            <a:solidFill>
              <a:srgbClr val="F2F2F2"/>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lnSpc>
                <a:spcPct val="100000"/>
              </a:lnSpc>
            </a:pPr>
            <a:r>
              <a:rPr sz="1200" b="0">
                <a:solidFill>
                  <a:srgbClr val="44546A"/>
                </a:solidFill>
                <a:latin typeface="Calibri"/>
              </a:rPr>
              <a:t>Use source links in the trainer notes / LMS reading list rather than crowding the teaching slides.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76656" y="603504"/>
            <a:ext cx="10835640" cy="612648"/>
          </a:xfrm>
          <a:prstGeom prst="rect">
            <a:avLst/>
          </a:prstGeom>
          <a:noFill/>
        </p:spPr>
        <p:txBody>
          <a:bodyPr wrap="square" tIns="54864" bIns="54864">
            <a:noAutofit/>
          </a:bodyPr>
          <a:lstStyle/>
          <a:p>
            <a:pPr algn="l">
              <a:lnSpc>
                <a:spcPct val="100000"/>
              </a:lnSpc>
            </a:pPr>
            <a:r>
              <a:rPr sz="3100" b="1">
                <a:solidFill>
                  <a:srgbClr val="161A3E"/>
                </a:solidFill>
                <a:latin typeface="Calibri"/>
              </a:rPr>
              <a:t>DoubtBusters: Go-To Place for Clearing Doubts</a:t>
            </a: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77240" y="1783080"/>
            <a:ext cx="10607040" cy="2697480"/>
          </a:xfrm>
          <a:prstGeom prst="roundRect">
            <a:avLst/>
          </a:prstGeom>
          <a:solidFill>
            <a:srgbClr val="FFFFFF"/>
          </a:solidFill>
          <a:ln w="1524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 y="1920240"/>
            <a:ext cx="10195560" cy="2377440"/>
          </a:xfrm>
          <a:prstGeom prst="rect">
            <a:avLst/>
          </a:prstGeom>
          <a:noFill/>
        </p:spPr>
        <p:txBody>
          <a:bodyPr wrap="square" tIns="54864" bIns="54864">
            <a:noAutofit/>
          </a:bodyPr>
          <a:lstStyle/>
          <a:p>
            <a:pPr algn="l">
              <a:lnSpc>
                <a:spcPct val="100000"/>
              </a:lnSpc>
            </a:pPr>
            <a:r>
              <a:rPr sz="1310" b="0" dirty="0">
                <a:solidFill>
                  <a:srgbClr val="161A3E"/>
                </a:solidFill>
                <a:latin typeface="Calibri"/>
              </a:rPr>
              <a:t>Every Thursday, we conduct </a:t>
            </a:r>
            <a:r>
              <a:rPr sz="1310" b="0" dirty="0" err="1">
                <a:solidFill>
                  <a:srgbClr val="161A3E"/>
                </a:solidFill>
                <a:latin typeface="Calibri"/>
              </a:rPr>
              <a:t>DoubtBusters</a:t>
            </a:r>
            <a:r>
              <a:rPr sz="1310" b="0" dirty="0">
                <a:solidFill>
                  <a:srgbClr val="161A3E"/>
                </a:solidFill>
                <a:latin typeface="Calibri"/>
              </a:rPr>
              <a:t>, where we address your specific academic doubts and queries.</a:t>
            </a:r>
          </a:p>
          <a:p>
            <a:pPr algn="l">
              <a:lnSpc>
                <a:spcPct val="100000"/>
              </a:lnSpc>
            </a:pPr>
            <a:endParaRPr sz="1310" b="0" dirty="0">
              <a:solidFill>
                <a:srgbClr val="161A3E"/>
              </a:solidFill>
              <a:latin typeface="Calibri"/>
            </a:endParaRPr>
          </a:p>
          <a:p>
            <a:pPr algn="l">
              <a:lnSpc>
                <a:spcPct val="100000"/>
              </a:lnSpc>
            </a:pPr>
            <a:r>
              <a:rPr sz="1310" b="1" dirty="0">
                <a:solidFill>
                  <a:srgbClr val="161A3E"/>
                </a:solidFill>
                <a:latin typeface="Calibri"/>
              </a:rPr>
              <a:t>How to Submit Doubts/Queries:</a:t>
            </a:r>
          </a:p>
          <a:p>
            <a:pPr algn="l">
              <a:lnSpc>
                <a:spcPct val="100000"/>
              </a:lnSpc>
            </a:pPr>
            <a:r>
              <a:rPr sz="1310" b="0" dirty="0">
                <a:solidFill>
                  <a:srgbClr val="161A3E"/>
                </a:solidFill>
                <a:latin typeface="Calibri"/>
              </a:rPr>
              <a:t>Log in to the Campus Connect portal. In the left navigation pane, click the </a:t>
            </a:r>
            <a:r>
              <a:rPr sz="1310" b="0" dirty="0" err="1">
                <a:solidFill>
                  <a:srgbClr val="161A3E"/>
                </a:solidFill>
                <a:latin typeface="Calibri"/>
              </a:rPr>
              <a:t>DoubtBuster</a:t>
            </a:r>
            <a:r>
              <a:rPr sz="1310" b="0" dirty="0">
                <a:solidFill>
                  <a:srgbClr val="161A3E"/>
                </a:solidFill>
                <a:latin typeface="Calibri"/>
              </a:rPr>
              <a:t> section. Fill in and submit the doubt submission form available there.</a:t>
            </a:r>
          </a:p>
          <a:p>
            <a:pPr algn="l">
              <a:lnSpc>
                <a:spcPct val="100000"/>
              </a:lnSpc>
            </a:pPr>
            <a:endParaRPr sz="1310" b="0" dirty="0">
              <a:solidFill>
                <a:srgbClr val="161A3E"/>
              </a:solidFill>
              <a:latin typeface="Calibri"/>
            </a:endParaRPr>
          </a:p>
          <a:p>
            <a:pPr algn="l">
              <a:lnSpc>
                <a:spcPct val="100000"/>
              </a:lnSpc>
            </a:pPr>
            <a:r>
              <a:rPr sz="1310" b="1" dirty="0">
                <a:solidFill>
                  <a:srgbClr val="161A3E"/>
                </a:solidFill>
                <a:latin typeface="Calibri"/>
              </a:rPr>
              <a:t>Attending the Thursday Session:</a:t>
            </a:r>
          </a:p>
          <a:p>
            <a:pPr algn="l">
              <a:lnSpc>
                <a:spcPct val="100000"/>
              </a:lnSpc>
            </a:pPr>
            <a:r>
              <a:rPr sz="1310" b="0" dirty="0">
                <a:solidFill>
                  <a:srgbClr val="161A3E"/>
                </a:solidFill>
                <a:latin typeface="Calibri"/>
              </a:rPr>
              <a:t>After submitting your doubt, attend the Thursday </a:t>
            </a:r>
            <a:r>
              <a:rPr sz="1310" b="0" dirty="0" err="1">
                <a:solidFill>
                  <a:srgbClr val="161A3E"/>
                </a:solidFill>
                <a:latin typeface="Calibri"/>
              </a:rPr>
              <a:t>DoubtBuster</a:t>
            </a:r>
            <a:r>
              <a:rPr sz="1310" b="0" dirty="0">
                <a:solidFill>
                  <a:srgbClr val="161A3E"/>
                </a:solidFill>
                <a:latin typeface="Calibri"/>
              </a:rPr>
              <a:t> session at the time specified for your region in the portal. Your doubts will be addressed during the session.</a:t>
            </a:r>
          </a:p>
        </p:txBody>
      </p:sp>
      <p:sp>
        <p:nvSpPr>
          <p:cNvPr id="6" name="Rounded Rectangle 5"/>
          <p:cNvSpPr/>
          <p:nvPr/>
        </p:nvSpPr>
        <p:spPr>
          <a:xfrm>
            <a:off x="777240" y="4690872"/>
            <a:ext cx="10607040" cy="868680"/>
          </a:xfrm>
          <a:prstGeom prst="roundRect">
            <a:avLst/>
          </a:prstGeom>
          <a:solidFill>
            <a:srgbClr val="D6E4F0"/>
          </a:solidFill>
          <a:ln w="15240">
            <a:solidFill>
              <a:srgbClr val="4472C4"/>
            </a:solidFill>
          </a:ln>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l">
              <a:lnSpc>
                <a:spcPct val="100000"/>
              </a:lnSpc>
            </a:pPr>
            <a:r>
              <a:rPr sz="1250" b="1">
                <a:solidFill>
                  <a:srgbClr val="161A3E"/>
                </a:solidFill>
                <a:latin typeface="Calibri"/>
              </a:rPr>
              <a:t>Important: Doubts submitted must be specific — vague or broad topic mentions will not be addressed in DoubtBusters. If an entire concept or session is unclear, raise that concern directly with your Campus Coordinator or submit a Support Ticket on the portal.</a:t>
            </a:r>
          </a:p>
        </p:txBody>
      </p:sp>
    </p:spTree>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7347</TotalTime>
  <Words>2040</Words>
  <Application>Microsoft Office PowerPoint</Application>
  <PresentationFormat>Widescreen</PresentationFormat>
  <Paragraphs>290</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Consolas</vt:lpstr>
      <vt:lpstr>BIA Template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simon.nadar@bostoninstituteofanalytics.org</dc:creator>
  <cp:lastModifiedBy>Simon Nadar</cp:lastModifiedBy>
  <cp:revision>2269</cp:revision>
  <dcterms:created xsi:type="dcterms:W3CDTF">2020-12-23T13:36:00Z</dcterms:created>
  <dcterms:modified xsi:type="dcterms:W3CDTF">2026-06-01T12:09:54Z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